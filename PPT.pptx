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obby Jones Soft" charset="1" panose="00000000000000000000"/>
      <p:regular r:id="rId21"/>
    </p:embeddedFont>
    <p:embeddedFont>
      <p:font typeface="Cloud Condensed Bold" charset="1" panose="00000000000000000000"/>
      <p:regular r:id="rId22"/>
    </p:embeddedFont>
    <p:embeddedFont>
      <p:font typeface="Bobby Jones" charset="1" panose="00000000000000000000"/>
      <p:regular r:id="rId23"/>
    </p:embeddedFont>
    <p:embeddedFont>
      <p:font typeface="Cloud Condensed" charset="1" panose="00000000000000000000"/>
      <p:regular r:id="rId24"/>
    </p:embeddedFont>
    <p:embeddedFont>
      <p:font typeface="Open Sans" charset="1" panose="020B0606030504020204"/>
      <p:regular r:id="rId25"/>
    </p:embeddedFont>
    <p:embeddedFont>
      <p:font typeface="Gotham Condensed Bold"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286376" y="6961183"/>
            <a:ext cx="18574376" cy="3325817"/>
          </a:xfrm>
          <a:custGeom>
            <a:avLst/>
            <a:gdLst/>
            <a:ahLst/>
            <a:cxnLst/>
            <a:rect r="r" b="b" t="t" l="l"/>
            <a:pathLst>
              <a:path h="3325817" w="18574376">
                <a:moveTo>
                  <a:pt x="0" y="0"/>
                </a:moveTo>
                <a:lnTo>
                  <a:pt x="18574376" y="0"/>
                </a:lnTo>
                <a:lnTo>
                  <a:pt x="18574376" y="3325817"/>
                </a:lnTo>
                <a:lnTo>
                  <a:pt x="0" y="3325817"/>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3958557"/>
            <a:ext cx="7888796" cy="6328443"/>
          </a:xfrm>
          <a:custGeom>
            <a:avLst/>
            <a:gdLst/>
            <a:ahLst/>
            <a:cxnLst/>
            <a:rect r="r" b="b" t="t" l="l"/>
            <a:pathLst>
              <a:path h="6328443" w="7888796">
                <a:moveTo>
                  <a:pt x="0" y="0"/>
                </a:moveTo>
                <a:lnTo>
                  <a:pt x="7888796" y="0"/>
                </a:lnTo>
                <a:lnTo>
                  <a:pt x="7888796" y="6328443"/>
                </a:lnTo>
                <a:lnTo>
                  <a:pt x="0" y="6328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889229" y="981170"/>
            <a:ext cx="8875737" cy="3873008"/>
          </a:xfrm>
          <a:prstGeom prst="rect">
            <a:avLst/>
          </a:prstGeom>
        </p:spPr>
        <p:txBody>
          <a:bodyPr anchor="t" rtlCol="false" tIns="0" lIns="0" bIns="0" rIns="0">
            <a:spAutoFit/>
          </a:bodyPr>
          <a:lstStyle/>
          <a:p>
            <a:pPr algn="ctr">
              <a:lnSpc>
                <a:spcPts val="9946"/>
              </a:lnSpc>
            </a:pPr>
            <a:r>
              <a:rPr lang="en-US" sz="10469">
                <a:solidFill>
                  <a:srgbClr val="292A26"/>
                </a:solidFill>
                <a:latin typeface="Bobby Jones Soft"/>
                <a:ea typeface="Bobby Jones Soft"/>
                <a:cs typeface="Bobby Jones Soft"/>
                <a:sym typeface="Bobby Jones Soft"/>
              </a:rPr>
              <a:t>ENVIRONMENTAL</a:t>
            </a:r>
          </a:p>
          <a:p>
            <a:pPr algn="ctr">
              <a:lnSpc>
                <a:spcPts val="9946"/>
              </a:lnSpc>
            </a:pPr>
            <a:r>
              <a:rPr lang="en-US" sz="10469">
                <a:solidFill>
                  <a:srgbClr val="292A26"/>
                </a:solidFill>
                <a:latin typeface="Bobby Jones Soft"/>
                <a:ea typeface="Bobby Jones Soft"/>
                <a:cs typeface="Bobby Jones Soft"/>
                <a:sym typeface="Bobby Jones Soft"/>
              </a:rPr>
              <a:t> POLLUTION </a:t>
            </a:r>
          </a:p>
          <a:p>
            <a:pPr algn="ctr">
              <a:lnSpc>
                <a:spcPts val="9946"/>
              </a:lnSpc>
            </a:pPr>
            <a:r>
              <a:rPr lang="en-US" sz="10469">
                <a:solidFill>
                  <a:srgbClr val="292A26"/>
                </a:solidFill>
                <a:latin typeface="Bobby Jones Soft"/>
                <a:ea typeface="Bobby Jones Soft"/>
                <a:cs typeface="Bobby Jones Soft"/>
                <a:sym typeface="Bobby Jones Soft"/>
              </a:rPr>
              <a:t>REPORTING</a:t>
            </a:r>
          </a:p>
        </p:txBody>
      </p:sp>
      <p:sp>
        <p:nvSpPr>
          <p:cNvPr name="TextBox 5" id="5"/>
          <p:cNvSpPr txBox="true"/>
          <p:nvPr/>
        </p:nvSpPr>
        <p:spPr>
          <a:xfrm rot="0">
            <a:off x="12534127" y="6905690"/>
            <a:ext cx="7130608" cy="3381310"/>
          </a:xfrm>
          <a:prstGeom prst="rect">
            <a:avLst/>
          </a:prstGeom>
        </p:spPr>
        <p:txBody>
          <a:bodyPr anchor="t" rtlCol="false" tIns="0" lIns="0" bIns="0" rIns="0">
            <a:spAutoFit/>
          </a:bodyPr>
          <a:lstStyle/>
          <a:p>
            <a:pPr algn="l">
              <a:lnSpc>
                <a:spcPts val="4384"/>
              </a:lnSpc>
            </a:pPr>
            <a:r>
              <a:rPr lang="en-US" sz="4215" b="true">
                <a:solidFill>
                  <a:srgbClr val="292A26"/>
                </a:solidFill>
                <a:latin typeface="Cloud Condensed Bold"/>
                <a:ea typeface="Cloud Condensed Bold"/>
                <a:cs typeface="Cloud Condensed Bold"/>
                <a:sym typeface="Cloud Condensed Bold"/>
              </a:rPr>
              <a:t>GROUP MEMBERS:</a:t>
            </a:r>
          </a:p>
          <a:p>
            <a:pPr algn="l">
              <a:lnSpc>
                <a:spcPts val="4384"/>
              </a:lnSpc>
            </a:pPr>
            <a:r>
              <a:rPr lang="en-US" sz="4215" b="true">
                <a:solidFill>
                  <a:srgbClr val="292A26"/>
                </a:solidFill>
                <a:latin typeface="Cloud Condensed Bold"/>
                <a:ea typeface="Cloud Condensed Bold"/>
                <a:cs typeface="Cloud Condensed Bold"/>
                <a:sym typeface="Cloud Condensed Bold"/>
              </a:rPr>
              <a:t>NAMITA JINESH</a:t>
            </a:r>
          </a:p>
          <a:p>
            <a:pPr algn="l">
              <a:lnSpc>
                <a:spcPts val="4384"/>
              </a:lnSpc>
            </a:pPr>
            <a:r>
              <a:rPr lang="en-US" sz="4215" b="true">
                <a:solidFill>
                  <a:srgbClr val="292A26"/>
                </a:solidFill>
                <a:latin typeface="Cloud Condensed Bold"/>
                <a:ea typeface="Cloud Condensed Bold"/>
                <a:cs typeface="Cloud Condensed Bold"/>
                <a:sym typeface="Cloud Condensed Bold"/>
              </a:rPr>
              <a:t>NAMITHA THOMAS</a:t>
            </a:r>
          </a:p>
          <a:p>
            <a:pPr algn="l">
              <a:lnSpc>
                <a:spcPts val="4384"/>
              </a:lnSpc>
            </a:pPr>
            <a:r>
              <a:rPr lang="en-US" sz="4215" b="true">
                <a:solidFill>
                  <a:srgbClr val="292A26"/>
                </a:solidFill>
                <a:latin typeface="Cloud Condensed Bold"/>
                <a:ea typeface="Cloud Condensed Bold"/>
                <a:cs typeface="Cloud Condensed Bold"/>
                <a:sym typeface="Cloud Condensed Bold"/>
              </a:rPr>
              <a:t>NANDHANA SUNIL</a:t>
            </a:r>
          </a:p>
          <a:p>
            <a:pPr algn="l">
              <a:lnSpc>
                <a:spcPts val="4384"/>
              </a:lnSpc>
            </a:pPr>
            <a:r>
              <a:rPr lang="en-US" sz="4215" b="true">
                <a:solidFill>
                  <a:srgbClr val="292A26"/>
                </a:solidFill>
                <a:latin typeface="Cloud Condensed Bold"/>
                <a:ea typeface="Cloud Condensed Bold"/>
                <a:cs typeface="Cloud Condensed Bold"/>
                <a:sym typeface="Cloud Condensed Bold"/>
              </a:rPr>
              <a:t>NANDITHA MANOJ</a:t>
            </a:r>
          </a:p>
          <a:p>
            <a:pPr algn="l">
              <a:lnSpc>
                <a:spcPts val="4384"/>
              </a:lnSpc>
            </a:pPr>
            <a:r>
              <a:rPr lang="en-US" sz="4215" b="true">
                <a:solidFill>
                  <a:srgbClr val="292A26"/>
                </a:solidFill>
                <a:latin typeface="Cloud Condensed Bold"/>
                <a:ea typeface="Cloud Condensed Bold"/>
                <a:cs typeface="Cloud Condensed Bold"/>
                <a:sym typeface="Cloud Condensed Bold"/>
              </a:rPr>
              <a:t>NATASHA SHAJI VARGHESE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7601086" y="1811079"/>
            <a:ext cx="11079636" cy="8475921"/>
          </a:xfrm>
          <a:custGeom>
            <a:avLst/>
            <a:gdLst/>
            <a:ahLst/>
            <a:cxnLst/>
            <a:rect r="r" b="b" t="t" l="l"/>
            <a:pathLst>
              <a:path h="8475921" w="11079636">
                <a:moveTo>
                  <a:pt x="0" y="0"/>
                </a:moveTo>
                <a:lnTo>
                  <a:pt x="11079636" y="0"/>
                </a:lnTo>
                <a:lnTo>
                  <a:pt x="11079636" y="8475921"/>
                </a:lnTo>
                <a:lnTo>
                  <a:pt x="0" y="8475921"/>
                </a:lnTo>
                <a:lnTo>
                  <a:pt x="0" y="0"/>
                </a:lnTo>
                <a:close/>
              </a:path>
            </a:pathLst>
          </a:custGeom>
          <a:blipFill>
            <a:blip r:embed="rId2">
              <a:alphaModFix amt="31000"/>
            </a:blip>
            <a:stretch>
              <a:fillRect l="0" t="0" r="0" b="0"/>
            </a:stretch>
          </a:blipFill>
        </p:spPr>
      </p:sp>
      <p:sp>
        <p:nvSpPr>
          <p:cNvPr name="TextBox 3" id="3"/>
          <p:cNvSpPr txBox="true"/>
          <p:nvPr/>
        </p:nvSpPr>
        <p:spPr>
          <a:xfrm rot="0">
            <a:off x="0" y="85725"/>
            <a:ext cx="12496478" cy="8764455"/>
          </a:xfrm>
          <a:prstGeom prst="rect">
            <a:avLst/>
          </a:prstGeom>
        </p:spPr>
        <p:txBody>
          <a:bodyPr anchor="t" rtlCol="false" tIns="0" lIns="0" bIns="0" rIns="0">
            <a:spAutoFit/>
          </a:bodyPr>
          <a:lstStyle/>
          <a:p>
            <a:pPr algn="ctr">
              <a:lnSpc>
                <a:spcPts val="6806"/>
              </a:lnSpc>
              <a:spcBef>
                <a:spcPct val="0"/>
              </a:spcBef>
            </a:pPr>
            <a:r>
              <a:rPr lang="en-US" sz="6544">
                <a:solidFill>
                  <a:srgbClr val="000000"/>
                </a:solidFill>
                <a:latin typeface="Bobby Jones"/>
                <a:ea typeface="Bobby Jones"/>
                <a:cs typeface="Bobby Jones"/>
                <a:sym typeface="Bobby Jones"/>
              </a:rPr>
              <a:t>PROBLEM STATEMENT </a:t>
            </a:r>
          </a:p>
          <a:p>
            <a:pPr algn="ctr">
              <a:lnSpc>
                <a:spcPts val="6806"/>
              </a:lnSpc>
              <a:spcBef>
                <a:spcPct val="0"/>
              </a:spcBef>
            </a:pP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Lack of a centralized platform for reporting pollution incidents.</a:t>
            </a: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Difficulty in providing accurate location and evidence.</a:t>
            </a: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Pollution reports may be distributed across different departments.</a:t>
            </a: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Limited ability to track complaint progress.</a:t>
            </a: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Difficulty in identifying recurring pollution hotspots.</a:t>
            </a: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Delays in verification and response to reported incidents.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TextBox 2" id="2"/>
          <p:cNvSpPr txBox="true"/>
          <p:nvPr/>
        </p:nvSpPr>
        <p:spPr>
          <a:xfrm rot="0">
            <a:off x="4802391" y="897416"/>
            <a:ext cx="8195965" cy="2619005"/>
          </a:xfrm>
          <a:prstGeom prst="rect">
            <a:avLst/>
          </a:prstGeom>
        </p:spPr>
        <p:txBody>
          <a:bodyPr anchor="t" rtlCol="false" tIns="0" lIns="0" bIns="0" rIns="0">
            <a:spAutoFit/>
          </a:bodyPr>
          <a:lstStyle/>
          <a:p>
            <a:pPr algn="ctr">
              <a:lnSpc>
                <a:spcPts val="6806"/>
              </a:lnSpc>
              <a:spcBef>
                <a:spcPct val="0"/>
              </a:spcBef>
            </a:pPr>
            <a:r>
              <a:rPr lang="en-US" sz="6544">
                <a:solidFill>
                  <a:srgbClr val="000000"/>
                </a:solidFill>
                <a:latin typeface="Bobby Jones"/>
                <a:ea typeface="Bobby Jones"/>
                <a:cs typeface="Bobby Jones"/>
                <a:sym typeface="Bobby Jones"/>
              </a:rPr>
              <a:t>SUSTAINABILITY ANALYSIS</a:t>
            </a:r>
          </a:p>
          <a:p>
            <a:pPr algn="ctr">
              <a:lnSpc>
                <a:spcPts val="6806"/>
              </a:lnSpc>
              <a:spcBef>
                <a:spcPct val="0"/>
              </a:spcBef>
            </a:pPr>
          </a:p>
          <a:p>
            <a:pPr algn="ctr">
              <a:lnSpc>
                <a:spcPts val="6806"/>
              </a:lnSpc>
            </a:pPr>
          </a:p>
        </p:txBody>
      </p:sp>
      <p:sp>
        <p:nvSpPr>
          <p:cNvPr name="TextBox 3" id="3"/>
          <p:cNvSpPr txBox="true"/>
          <p:nvPr/>
        </p:nvSpPr>
        <p:spPr>
          <a:xfrm rot="0">
            <a:off x="1191038" y="3214968"/>
            <a:ext cx="10344510" cy="6913710"/>
          </a:xfrm>
          <a:prstGeom prst="rect">
            <a:avLst/>
          </a:prstGeom>
        </p:spPr>
        <p:txBody>
          <a:bodyPr anchor="t" rtlCol="false" tIns="0" lIns="0" bIns="0" rIns="0">
            <a:spAutoFit/>
          </a:bodyPr>
          <a:lstStyle/>
          <a:p>
            <a:pPr algn="l">
              <a:lnSpc>
                <a:spcPts val="4250"/>
              </a:lnSpc>
            </a:pPr>
            <a:r>
              <a:rPr lang="en-US" sz="3035">
                <a:solidFill>
                  <a:srgbClr val="000000"/>
                </a:solidFill>
                <a:latin typeface="Open Sans"/>
                <a:ea typeface="Open Sans"/>
                <a:cs typeface="Open Sans"/>
                <a:sym typeface="Open Sans"/>
              </a:rPr>
              <a:t> Environmental Impact</a:t>
            </a:r>
          </a:p>
          <a:p>
            <a:pPr algn="l" marL="655442" indent="-327721" lvl="1">
              <a:lnSpc>
                <a:spcPts val="4250"/>
              </a:lnSpc>
              <a:buFont typeface="Arial"/>
              <a:buChar char="•"/>
            </a:pPr>
            <a:r>
              <a:rPr lang="en-US" sz="3035">
                <a:solidFill>
                  <a:srgbClr val="000000"/>
                </a:solidFill>
                <a:latin typeface="Open Sans"/>
                <a:ea typeface="Open Sans"/>
                <a:cs typeface="Open Sans"/>
                <a:sym typeface="Open Sans"/>
              </a:rPr>
              <a:t>Early identification of pollution</a:t>
            </a:r>
          </a:p>
          <a:p>
            <a:pPr algn="l" marL="655442" indent="-327721" lvl="1">
              <a:lnSpc>
                <a:spcPts val="4250"/>
              </a:lnSpc>
              <a:buFont typeface="Arial"/>
              <a:buChar char="•"/>
            </a:pPr>
            <a:r>
              <a:rPr lang="en-US" sz="3035">
                <a:solidFill>
                  <a:srgbClr val="000000"/>
                </a:solidFill>
                <a:latin typeface="Open Sans"/>
                <a:ea typeface="Open Sans"/>
                <a:cs typeface="Open Sans"/>
                <a:sym typeface="Open Sans"/>
              </a:rPr>
              <a:t>Supports faster corrective action</a:t>
            </a:r>
          </a:p>
          <a:p>
            <a:pPr algn="l" marL="655442" indent="-327721" lvl="1">
              <a:lnSpc>
                <a:spcPts val="4250"/>
              </a:lnSpc>
              <a:buFont typeface="Arial"/>
              <a:buChar char="•"/>
            </a:pPr>
            <a:r>
              <a:rPr lang="en-US" sz="3035">
                <a:solidFill>
                  <a:srgbClr val="000000"/>
                </a:solidFill>
                <a:latin typeface="Open Sans"/>
                <a:ea typeface="Open Sans"/>
                <a:cs typeface="Open Sans"/>
                <a:sym typeface="Open Sans"/>
              </a:rPr>
              <a:t>Helps protect natural resources</a:t>
            </a:r>
          </a:p>
          <a:p>
            <a:pPr algn="l">
              <a:lnSpc>
                <a:spcPts val="4250"/>
              </a:lnSpc>
            </a:pPr>
          </a:p>
          <a:p>
            <a:pPr algn="l">
              <a:lnSpc>
                <a:spcPts val="4250"/>
              </a:lnSpc>
              <a:spcBef>
                <a:spcPct val="0"/>
              </a:spcBef>
            </a:pPr>
          </a:p>
          <a:p>
            <a:pPr algn="l">
              <a:lnSpc>
                <a:spcPts val="4250"/>
              </a:lnSpc>
              <a:spcBef>
                <a:spcPct val="0"/>
              </a:spcBef>
            </a:pPr>
            <a:r>
              <a:rPr lang="en-US" sz="3035">
                <a:solidFill>
                  <a:srgbClr val="000000"/>
                </a:solidFill>
                <a:latin typeface="Open Sans"/>
                <a:ea typeface="Open Sans"/>
                <a:cs typeface="Open Sans"/>
                <a:sym typeface="Open Sans"/>
              </a:rPr>
              <a:t> Social Impact</a:t>
            </a:r>
          </a:p>
          <a:p>
            <a:pPr algn="l" marL="655442" indent="-327721" lvl="1">
              <a:lnSpc>
                <a:spcPts val="4250"/>
              </a:lnSpc>
              <a:spcBef>
                <a:spcPct val="0"/>
              </a:spcBef>
              <a:buFont typeface="Arial"/>
              <a:buChar char="•"/>
            </a:pPr>
            <a:r>
              <a:rPr lang="en-US" sz="3035">
                <a:solidFill>
                  <a:srgbClr val="000000"/>
                </a:solidFill>
                <a:latin typeface="Open Sans"/>
                <a:ea typeface="Open Sans"/>
                <a:cs typeface="Open Sans"/>
                <a:sym typeface="Open Sans"/>
              </a:rPr>
              <a:t>Encourages citizen participation</a:t>
            </a:r>
          </a:p>
          <a:p>
            <a:pPr algn="l" marL="655442" indent="-327721" lvl="1">
              <a:lnSpc>
                <a:spcPts val="4250"/>
              </a:lnSpc>
              <a:spcBef>
                <a:spcPct val="0"/>
              </a:spcBef>
              <a:buFont typeface="Arial"/>
              <a:buChar char="•"/>
            </a:pPr>
            <a:r>
              <a:rPr lang="en-US" sz="3035">
                <a:solidFill>
                  <a:srgbClr val="000000"/>
                </a:solidFill>
                <a:latin typeface="Open Sans"/>
                <a:ea typeface="Open Sans"/>
                <a:cs typeface="Open Sans"/>
                <a:sym typeface="Open Sans"/>
              </a:rPr>
              <a:t>Increases environmental awareness</a:t>
            </a:r>
          </a:p>
          <a:p>
            <a:pPr algn="l" marL="655442" indent="-327721" lvl="1">
              <a:lnSpc>
                <a:spcPts val="4250"/>
              </a:lnSpc>
              <a:spcBef>
                <a:spcPct val="0"/>
              </a:spcBef>
              <a:buFont typeface="Arial"/>
              <a:buChar char="•"/>
            </a:pPr>
            <a:r>
              <a:rPr lang="en-US" sz="3035">
                <a:solidFill>
                  <a:srgbClr val="000000"/>
                </a:solidFill>
                <a:latin typeface="Open Sans"/>
                <a:ea typeface="Open Sans"/>
                <a:cs typeface="Open Sans"/>
                <a:sym typeface="Open Sans"/>
              </a:rPr>
              <a:t>Promotes healthier communities</a:t>
            </a:r>
          </a:p>
          <a:p>
            <a:pPr algn="l">
              <a:lnSpc>
                <a:spcPts val="4250"/>
              </a:lnSpc>
              <a:spcBef>
                <a:spcPct val="0"/>
              </a:spcBef>
            </a:pPr>
          </a:p>
          <a:p>
            <a:pPr algn="l">
              <a:lnSpc>
                <a:spcPts val="4250"/>
              </a:lnSpc>
              <a:spcBef>
                <a:spcPct val="0"/>
              </a:spcBef>
            </a:pPr>
            <a:r>
              <a:rPr lang="en-US" sz="3035">
                <a:solidFill>
                  <a:srgbClr val="000000"/>
                </a:solidFill>
                <a:latin typeface="Open Sans"/>
                <a:ea typeface="Open Sans"/>
                <a:cs typeface="Open Sans"/>
                <a:sym typeface="Open Sans"/>
              </a:rPr>
              <a:t> </a:t>
            </a:r>
          </a:p>
          <a:p>
            <a:pPr algn="l">
              <a:lnSpc>
                <a:spcPts val="4250"/>
              </a:lnSpc>
              <a:spcBef>
                <a:spcPct val="0"/>
              </a:spcBef>
            </a:pPr>
          </a:p>
        </p:txBody>
      </p:sp>
      <p:sp>
        <p:nvSpPr>
          <p:cNvPr name="TextBox 4" id="4"/>
          <p:cNvSpPr txBox="true"/>
          <p:nvPr/>
        </p:nvSpPr>
        <p:spPr>
          <a:xfrm rot="0">
            <a:off x="9851334" y="3214968"/>
            <a:ext cx="7156188" cy="5673934"/>
          </a:xfrm>
          <a:prstGeom prst="rect">
            <a:avLst/>
          </a:prstGeom>
        </p:spPr>
        <p:txBody>
          <a:bodyPr anchor="t" rtlCol="false" tIns="0" lIns="0" bIns="0" rIns="0">
            <a:spAutoFit/>
          </a:bodyPr>
          <a:lstStyle/>
          <a:p>
            <a:pPr algn="l">
              <a:lnSpc>
                <a:spcPts val="4128"/>
              </a:lnSpc>
            </a:pPr>
            <a:r>
              <a:rPr lang="en-US" sz="2948">
                <a:solidFill>
                  <a:srgbClr val="000000"/>
                </a:solidFill>
                <a:latin typeface="Open Sans"/>
                <a:ea typeface="Open Sans"/>
                <a:cs typeface="Open Sans"/>
                <a:sym typeface="Open Sans"/>
              </a:rPr>
              <a:t> Economic Impact</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Reduces monitoring costs</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Improves resource allocation</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Supports cost-effective management</a:t>
            </a:r>
          </a:p>
          <a:p>
            <a:pPr algn="l">
              <a:lnSpc>
                <a:spcPts val="4128"/>
              </a:lnSpc>
            </a:pPr>
          </a:p>
          <a:p>
            <a:pPr algn="l">
              <a:lnSpc>
                <a:spcPts val="4128"/>
              </a:lnSpc>
            </a:pPr>
          </a:p>
          <a:p>
            <a:pPr algn="l">
              <a:lnSpc>
                <a:spcPts val="4128"/>
              </a:lnSpc>
            </a:pPr>
            <a:r>
              <a:rPr lang="en-US" sz="2948">
                <a:solidFill>
                  <a:srgbClr val="000000"/>
                </a:solidFill>
                <a:latin typeface="Open Sans"/>
                <a:ea typeface="Open Sans"/>
                <a:cs typeface="Open Sans"/>
                <a:sym typeface="Open Sans"/>
              </a:rPr>
              <a:t> Technical Impact</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Enables digital monitoring</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Improves data collection and analysis</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Supports scalable solutions</a:t>
            </a:r>
          </a:p>
          <a:p>
            <a:pPr algn="l">
              <a:lnSpc>
                <a:spcPts val="4128"/>
              </a:lnSpc>
              <a:spcBef>
                <a:spcPct val="0"/>
              </a:spcBef>
            </a:pPr>
          </a:p>
        </p:txBody>
      </p:sp>
      <p:sp>
        <p:nvSpPr>
          <p:cNvPr name="Freeform 5" id="5"/>
          <p:cNvSpPr/>
          <p:nvPr/>
        </p:nvSpPr>
        <p:spPr>
          <a:xfrm flipH="false" flipV="false" rot="0">
            <a:off x="253464" y="0"/>
            <a:ext cx="17005836" cy="10281839"/>
          </a:xfrm>
          <a:custGeom>
            <a:avLst/>
            <a:gdLst/>
            <a:ahLst/>
            <a:cxnLst/>
            <a:rect r="r" b="b" t="t" l="l"/>
            <a:pathLst>
              <a:path h="10281839" w="17005836">
                <a:moveTo>
                  <a:pt x="0" y="0"/>
                </a:moveTo>
                <a:lnTo>
                  <a:pt x="17005836" y="0"/>
                </a:lnTo>
                <a:lnTo>
                  <a:pt x="17005836" y="10281839"/>
                </a:lnTo>
                <a:lnTo>
                  <a:pt x="0" y="10281839"/>
                </a:lnTo>
                <a:lnTo>
                  <a:pt x="0" y="0"/>
                </a:lnTo>
                <a:close/>
              </a:path>
            </a:pathLst>
          </a:custGeom>
          <a:blipFill>
            <a:blip r:embed="rId2">
              <a:alphaModFix amt="30000"/>
            </a:blip>
            <a:stretch>
              <a:fillRect l="0" t="-13264" r="0" b="-13264"/>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TextBox 2" id="2"/>
          <p:cNvSpPr txBox="true"/>
          <p:nvPr/>
        </p:nvSpPr>
        <p:spPr>
          <a:xfrm rot="0">
            <a:off x="7656241" y="264249"/>
            <a:ext cx="10631759" cy="2644775"/>
          </a:xfrm>
          <a:prstGeom prst="rect">
            <a:avLst/>
          </a:prstGeom>
        </p:spPr>
        <p:txBody>
          <a:bodyPr anchor="t" rtlCol="false" tIns="0" lIns="0" bIns="0" rIns="0">
            <a:spAutoFit/>
          </a:bodyPr>
          <a:lstStyle/>
          <a:p>
            <a:pPr algn="l">
              <a:lnSpc>
                <a:spcPts val="7000"/>
              </a:lnSpc>
            </a:pPr>
            <a:r>
              <a:rPr lang="en-US" sz="5000">
                <a:solidFill>
                  <a:srgbClr val="000000"/>
                </a:solidFill>
                <a:latin typeface="Bobby Jones"/>
                <a:ea typeface="Bobby Jones"/>
                <a:cs typeface="Bobby Jones"/>
                <a:sym typeface="Bobby Jones"/>
              </a:rPr>
              <a:t>1.AI-Based Pollution Source Identification &amp; Classification System</a:t>
            </a:r>
          </a:p>
          <a:p>
            <a:pPr algn="l">
              <a:lnSpc>
                <a:spcPts val="7000"/>
              </a:lnSpc>
              <a:spcBef>
                <a:spcPct val="0"/>
              </a:spcBef>
            </a:pPr>
          </a:p>
        </p:txBody>
      </p:sp>
      <p:grpSp>
        <p:nvGrpSpPr>
          <p:cNvPr name="Group 3" id="3"/>
          <p:cNvGrpSpPr/>
          <p:nvPr/>
        </p:nvGrpSpPr>
        <p:grpSpPr>
          <a:xfrm rot="0">
            <a:off x="-4855410" y="-19592"/>
            <a:ext cx="12511651" cy="10527891"/>
            <a:chOff x="0" y="0"/>
            <a:chExt cx="698488" cy="587741"/>
          </a:xfrm>
        </p:grpSpPr>
        <p:sp>
          <p:nvSpPr>
            <p:cNvPr name="Freeform 4" id="4"/>
            <p:cNvSpPr/>
            <p:nvPr/>
          </p:nvSpPr>
          <p:spPr>
            <a:xfrm flipH="false" flipV="false" rot="0">
              <a:off x="0" y="0"/>
              <a:ext cx="698488" cy="587741"/>
            </a:xfrm>
            <a:custGeom>
              <a:avLst/>
              <a:gdLst/>
              <a:ahLst/>
              <a:cxnLst/>
              <a:rect r="r" b="b" t="t" l="l"/>
              <a:pathLst>
                <a:path h="587741" w="698488">
                  <a:moveTo>
                    <a:pt x="188540" y="0"/>
                  </a:moveTo>
                  <a:lnTo>
                    <a:pt x="509948" y="0"/>
                  </a:lnTo>
                  <a:cubicBezTo>
                    <a:pt x="559952" y="0"/>
                    <a:pt x="607908" y="19864"/>
                    <a:pt x="643266" y="55222"/>
                  </a:cubicBezTo>
                  <a:cubicBezTo>
                    <a:pt x="678624" y="90580"/>
                    <a:pt x="698488" y="138536"/>
                    <a:pt x="698488" y="188540"/>
                  </a:cubicBezTo>
                  <a:lnTo>
                    <a:pt x="698488" y="399201"/>
                  </a:lnTo>
                  <a:cubicBezTo>
                    <a:pt x="698488" y="503329"/>
                    <a:pt x="614076" y="587741"/>
                    <a:pt x="509948" y="587741"/>
                  </a:cubicBezTo>
                  <a:lnTo>
                    <a:pt x="188540" y="587741"/>
                  </a:lnTo>
                  <a:cubicBezTo>
                    <a:pt x="138536" y="587741"/>
                    <a:pt x="90580" y="567877"/>
                    <a:pt x="55222" y="532519"/>
                  </a:cubicBezTo>
                  <a:cubicBezTo>
                    <a:pt x="19864" y="497161"/>
                    <a:pt x="0" y="449205"/>
                    <a:pt x="0" y="399201"/>
                  </a:cubicBezTo>
                  <a:lnTo>
                    <a:pt x="0" y="188540"/>
                  </a:lnTo>
                  <a:cubicBezTo>
                    <a:pt x="0" y="138536"/>
                    <a:pt x="19864" y="90580"/>
                    <a:pt x="55222" y="55222"/>
                  </a:cubicBezTo>
                  <a:cubicBezTo>
                    <a:pt x="90580" y="19864"/>
                    <a:pt x="138536" y="0"/>
                    <a:pt x="188540" y="0"/>
                  </a:cubicBezTo>
                  <a:close/>
                </a:path>
              </a:pathLst>
            </a:custGeom>
            <a:solidFill>
              <a:srgbClr val="786948"/>
            </a:solidFill>
          </p:spPr>
        </p:sp>
        <p:sp>
          <p:nvSpPr>
            <p:cNvPr name="TextBox 5" id="5"/>
            <p:cNvSpPr txBox="true"/>
            <p:nvPr/>
          </p:nvSpPr>
          <p:spPr>
            <a:xfrm>
              <a:off x="0" y="-38100"/>
              <a:ext cx="698488" cy="62584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7656241" y="2129449"/>
            <a:ext cx="10757647" cy="8229600"/>
          </a:xfrm>
          <a:custGeom>
            <a:avLst/>
            <a:gdLst/>
            <a:ahLst/>
            <a:cxnLst/>
            <a:rect r="r" b="b" t="t" l="l"/>
            <a:pathLst>
              <a:path h="8229600" w="10757647">
                <a:moveTo>
                  <a:pt x="0" y="0"/>
                </a:moveTo>
                <a:lnTo>
                  <a:pt x="10757647" y="0"/>
                </a:lnTo>
                <a:lnTo>
                  <a:pt x="10757647" y="8229600"/>
                </a:lnTo>
                <a:lnTo>
                  <a:pt x="0" y="8229600"/>
                </a:lnTo>
                <a:lnTo>
                  <a:pt x="0" y="0"/>
                </a:lnTo>
                <a:close/>
              </a:path>
            </a:pathLst>
          </a:custGeom>
          <a:blipFill>
            <a:blip r:embed="rId2">
              <a:alphaModFix amt="30000"/>
            </a:blip>
            <a:stretch>
              <a:fillRect l="0" t="0" r="0" b="0"/>
            </a:stretch>
          </a:blipFill>
        </p:spPr>
      </p:sp>
      <p:sp>
        <p:nvSpPr>
          <p:cNvPr name="TextBox 7" id="7"/>
          <p:cNvSpPr txBox="true"/>
          <p:nvPr/>
        </p:nvSpPr>
        <p:spPr>
          <a:xfrm rot="0">
            <a:off x="7943090" y="2503275"/>
            <a:ext cx="10183950" cy="40995600"/>
          </a:xfrm>
          <a:prstGeom prst="rect">
            <a:avLst/>
          </a:prstGeom>
        </p:spPr>
        <p:txBody>
          <a:bodyPr anchor="t" rtlCol="false" tIns="0" lIns="0" bIns="0" rIns="0">
            <a:spAutoFit/>
          </a:bodyPr>
          <a:lstStyle/>
          <a:p>
            <a:pPr algn="l">
              <a:lnSpc>
                <a:spcPts val="6719"/>
              </a:lnSpc>
            </a:pPr>
            <a:r>
              <a:rPr lang="en-US" sz="4800" b="true">
                <a:solidFill>
                  <a:srgbClr val="000000"/>
                </a:solidFill>
                <a:latin typeface="Cloud Condensed Bold"/>
                <a:ea typeface="Cloud Condensed Bold"/>
                <a:cs typeface="Cloud Condensed Bold"/>
                <a:sym typeface="Cloud Condensed Bold"/>
              </a:rPr>
              <a:t>💡 Solution:</a:t>
            </a:r>
          </a:p>
          <a:p>
            <a:pPr algn="l">
              <a:lnSpc>
                <a:spcPts val="5880"/>
              </a:lnSpc>
            </a:pPr>
            <a:r>
              <a:rPr lang="en-US" sz="4200">
                <a:solidFill>
                  <a:srgbClr val="000000"/>
                </a:solidFill>
                <a:latin typeface="Cloud Condensed"/>
                <a:ea typeface="Cloud Condensed"/>
                <a:cs typeface="Cloud Condensed"/>
                <a:sym typeface="Cloud Condensed"/>
              </a:rPr>
              <a:t>The system uses AI and image processing to analyze pollution evidence and automatically determine its type, probable source, and severity. It reduces the need for manual classification, minimizes ambiguity in pollution reports, and converts raw evidence into structured and actionable environmental information.</a:t>
            </a: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spcBef>
                <a:spcPct val="0"/>
              </a:spcBef>
            </a:pPr>
          </a:p>
          <a:p>
            <a:pPr algn="l">
              <a:lnSpc>
                <a:spcPts val="5880"/>
              </a:lnSpc>
              <a:spcBef>
                <a:spcPct val="0"/>
              </a:spcBef>
            </a:pPr>
          </a:p>
          <a:p>
            <a:pPr algn="l">
              <a:lnSpc>
                <a:spcPts val="5880"/>
              </a:lnSpc>
              <a:spcBef>
                <a:spcPct val="0"/>
              </a:spcBef>
            </a:pPr>
          </a:p>
          <a:p>
            <a:pPr algn="l">
              <a:lnSpc>
                <a:spcPts val="5880"/>
              </a:lnSpc>
              <a:spcBef>
                <a:spcPct val="0"/>
              </a:spcBef>
            </a:pPr>
          </a:p>
        </p:txBody>
      </p:sp>
      <p:sp>
        <p:nvSpPr>
          <p:cNvPr name="TextBox 8" id="8"/>
          <p:cNvSpPr txBox="true"/>
          <p:nvPr/>
        </p:nvSpPr>
        <p:spPr>
          <a:xfrm rot="0">
            <a:off x="13753899" y="9391623"/>
            <a:ext cx="4534101" cy="635018"/>
          </a:xfrm>
          <a:prstGeom prst="rect">
            <a:avLst/>
          </a:prstGeom>
        </p:spPr>
        <p:txBody>
          <a:bodyPr anchor="t" rtlCol="false" tIns="0" lIns="0" bIns="0" rIns="0">
            <a:spAutoFit/>
          </a:bodyPr>
          <a:lstStyle/>
          <a:p>
            <a:pPr algn="ctr">
              <a:lnSpc>
                <a:spcPts val="4858"/>
              </a:lnSpc>
              <a:spcBef>
                <a:spcPct val="0"/>
              </a:spcBef>
            </a:pPr>
            <a:r>
              <a:rPr lang="en-US" sz="3470">
                <a:solidFill>
                  <a:srgbClr val="000000"/>
                </a:solidFill>
                <a:latin typeface="Cloud Condensed"/>
                <a:ea typeface="Cloud Condensed"/>
                <a:cs typeface="Cloud Condensed"/>
                <a:sym typeface="Cloud Condensed"/>
              </a:rPr>
              <a:t>Natasha Shaji Varghese</a:t>
            </a:r>
          </a:p>
        </p:txBody>
      </p:sp>
      <p:sp>
        <p:nvSpPr>
          <p:cNvPr name="TextBox 9" id="9"/>
          <p:cNvSpPr txBox="true"/>
          <p:nvPr/>
        </p:nvSpPr>
        <p:spPr>
          <a:xfrm rot="0">
            <a:off x="-162338" y="437993"/>
            <a:ext cx="7369830" cy="9849007"/>
          </a:xfrm>
          <a:prstGeom prst="rect">
            <a:avLst/>
          </a:prstGeom>
        </p:spPr>
        <p:txBody>
          <a:bodyPr anchor="t" rtlCol="false" tIns="0" lIns="0" bIns="0" rIns="0">
            <a:spAutoFit/>
          </a:bodyPr>
          <a:lstStyle/>
          <a:p>
            <a:pPr algn="ctr">
              <a:lnSpc>
                <a:spcPts val="5661"/>
              </a:lnSpc>
            </a:pPr>
            <a:r>
              <a:rPr lang="en-US" sz="4043">
                <a:solidFill>
                  <a:srgbClr val="FFFFFF"/>
                </a:solidFill>
                <a:latin typeface="Bobby Jones"/>
                <a:ea typeface="Bobby Jones"/>
                <a:cs typeface="Bobby Jones"/>
                <a:sym typeface="Bobby Jones"/>
              </a:rPr>
              <a:t>Main features :</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AI Image Analysis – analyzes uploaded pollution images</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Pollution Classification – identifies the type of pollution</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Source Identification – determines the probable source</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Severity Assessment – provides a preliminary severity level</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Report Categorization – organizes pollution data automatically</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Action Recommendation – suggests suitable follow-up actions</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Data Storage – maintains structured records for future analysis</a:t>
            </a:r>
          </a:p>
          <a:p>
            <a:pPr algn="just">
              <a:lnSpc>
                <a:spcPts val="482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3082848" y="1523444"/>
            <a:ext cx="13399933" cy="8763556"/>
          </a:xfrm>
          <a:custGeom>
            <a:avLst/>
            <a:gdLst/>
            <a:ahLst/>
            <a:cxnLst/>
            <a:rect r="r" b="b" t="t" l="l"/>
            <a:pathLst>
              <a:path h="8763556" w="13399933">
                <a:moveTo>
                  <a:pt x="0" y="0"/>
                </a:moveTo>
                <a:lnTo>
                  <a:pt x="13399933" y="0"/>
                </a:lnTo>
                <a:lnTo>
                  <a:pt x="13399933" y="8763556"/>
                </a:lnTo>
                <a:lnTo>
                  <a:pt x="0" y="876355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548365" y="-1609344"/>
            <a:ext cx="11657554" cy="13728195"/>
            <a:chOff x="0" y="0"/>
            <a:chExt cx="510125" cy="600735"/>
          </a:xfrm>
        </p:grpSpPr>
        <p:sp>
          <p:nvSpPr>
            <p:cNvPr name="Freeform 4" id="4"/>
            <p:cNvSpPr/>
            <p:nvPr/>
          </p:nvSpPr>
          <p:spPr>
            <a:xfrm flipH="false" flipV="false" rot="0">
              <a:off x="0" y="0"/>
              <a:ext cx="510125" cy="600735"/>
            </a:xfrm>
            <a:custGeom>
              <a:avLst/>
              <a:gdLst/>
              <a:ahLst/>
              <a:cxnLst/>
              <a:rect r="r" b="b" t="t" l="l"/>
              <a:pathLst>
                <a:path h="600735" w="510125">
                  <a:moveTo>
                    <a:pt x="202353" y="0"/>
                  </a:moveTo>
                  <a:lnTo>
                    <a:pt x="307772" y="0"/>
                  </a:lnTo>
                  <a:cubicBezTo>
                    <a:pt x="419529" y="0"/>
                    <a:pt x="510125" y="90597"/>
                    <a:pt x="510125" y="202353"/>
                  </a:cubicBezTo>
                  <a:lnTo>
                    <a:pt x="510125" y="398382"/>
                  </a:lnTo>
                  <a:cubicBezTo>
                    <a:pt x="510125" y="452049"/>
                    <a:pt x="488806" y="503518"/>
                    <a:pt x="450857" y="541467"/>
                  </a:cubicBezTo>
                  <a:cubicBezTo>
                    <a:pt x="412909" y="579416"/>
                    <a:pt x="361439" y="600735"/>
                    <a:pt x="307772" y="600735"/>
                  </a:cubicBezTo>
                  <a:lnTo>
                    <a:pt x="202353" y="600735"/>
                  </a:lnTo>
                  <a:cubicBezTo>
                    <a:pt x="90597" y="600735"/>
                    <a:pt x="0" y="510138"/>
                    <a:pt x="0" y="398382"/>
                  </a:cubicBezTo>
                  <a:lnTo>
                    <a:pt x="0" y="202353"/>
                  </a:lnTo>
                  <a:cubicBezTo>
                    <a:pt x="0" y="90597"/>
                    <a:pt x="90597" y="0"/>
                    <a:pt x="202353" y="0"/>
                  </a:cubicBezTo>
                  <a:close/>
                </a:path>
              </a:pathLst>
            </a:custGeom>
            <a:solidFill>
              <a:srgbClr val="786948"/>
            </a:solidFill>
          </p:spPr>
        </p:sp>
        <p:sp>
          <p:nvSpPr>
            <p:cNvPr name="TextBox 5" id="5"/>
            <p:cNvSpPr txBox="true"/>
            <p:nvPr/>
          </p:nvSpPr>
          <p:spPr>
            <a:xfrm>
              <a:off x="0" y="-38100"/>
              <a:ext cx="510125" cy="63883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2534860" y="4870572"/>
            <a:ext cx="8603566" cy="5200351"/>
          </a:xfrm>
          <a:custGeom>
            <a:avLst/>
            <a:gdLst/>
            <a:ahLst/>
            <a:cxnLst/>
            <a:rect r="r" b="b" t="t" l="l"/>
            <a:pathLst>
              <a:path h="5200351" w="8603566">
                <a:moveTo>
                  <a:pt x="0" y="0"/>
                </a:moveTo>
                <a:lnTo>
                  <a:pt x="8603566" y="0"/>
                </a:lnTo>
                <a:lnTo>
                  <a:pt x="8603566" y="5200351"/>
                </a:lnTo>
                <a:lnTo>
                  <a:pt x="0" y="520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66645" y="325581"/>
            <a:ext cx="7952175" cy="8065294"/>
          </a:xfrm>
          <a:prstGeom prst="rect">
            <a:avLst/>
          </a:prstGeom>
        </p:spPr>
        <p:txBody>
          <a:bodyPr anchor="t" rtlCol="false" tIns="0" lIns="0" bIns="0" rIns="0">
            <a:spAutoFit/>
          </a:bodyPr>
          <a:lstStyle/>
          <a:p>
            <a:pPr algn="l">
              <a:lnSpc>
                <a:spcPts val="4750"/>
              </a:lnSpc>
            </a:pPr>
            <a:r>
              <a:rPr lang="en-US" sz="5000">
                <a:solidFill>
                  <a:srgbClr val="000000"/>
                </a:solidFill>
                <a:latin typeface="Bobby Jones"/>
                <a:ea typeface="Bobby Jones"/>
                <a:cs typeface="Bobby Jones"/>
                <a:sym typeface="Bobby Jones"/>
              </a:rPr>
              <a:t>2. ECOALERT-</a:t>
            </a:r>
            <a:r>
              <a:rPr lang="en-US" sz="5000">
                <a:solidFill>
                  <a:srgbClr val="000000"/>
                </a:solidFill>
                <a:latin typeface="Bobby Jones"/>
                <a:ea typeface="Bobby Jones"/>
                <a:cs typeface="Bobby Jones"/>
                <a:sym typeface="Bobby Jones"/>
              </a:rPr>
              <a:t>Smart Environmental Pollution Reporting &amp; Monitoring System</a:t>
            </a:r>
          </a:p>
          <a:p>
            <a:pPr algn="l">
              <a:lnSpc>
                <a:spcPts val="4750"/>
              </a:lnSpc>
            </a:pPr>
          </a:p>
          <a:p>
            <a:pPr algn="l">
              <a:lnSpc>
                <a:spcPts val="3657"/>
              </a:lnSpc>
            </a:pPr>
          </a:p>
          <a:p>
            <a:pPr algn="l">
              <a:lnSpc>
                <a:spcPts val="3657"/>
              </a:lnSpc>
            </a:pPr>
            <a:r>
              <a:rPr lang="en-US" sz="3849">
                <a:solidFill>
                  <a:srgbClr val="000000"/>
                </a:solidFill>
                <a:latin typeface="Cloud Condensed"/>
                <a:ea typeface="Cloud Condensed"/>
                <a:cs typeface="Cloud Condensed"/>
                <a:sym typeface="Cloud Condensed"/>
              </a:rPr>
              <a:t>What is EcoAlert?</a:t>
            </a:r>
          </a:p>
          <a:p>
            <a:pPr algn="l">
              <a:lnSpc>
                <a:spcPts val="3657"/>
              </a:lnSpc>
            </a:pPr>
            <a:r>
              <a:rPr lang="en-US" sz="3849">
                <a:solidFill>
                  <a:srgbClr val="000000"/>
                </a:solidFill>
                <a:latin typeface="Cloud Condensed"/>
                <a:ea typeface="Cloud Condensed"/>
                <a:cs typeface="Cloud Condensed"/>
                <a:sym typeface="Cloud Condensed"/>
              </a:rPr>
              <a:t> EcoAlert is a web-based platform that connects citizens with environmental authorities. It allows citizens to report pollution incidents with their location, category, description and photographic evidence, while authorities can verify and manage these complaints.</a:t>
            </a:r>
          </a:p>
          <a:p>
            <a:pPr algn="l">
              <a:lnSpc>
                <a:spcPts val="3657"/>
              </a:lnSpc>
            </a:pPr>
          </a:p>
          <a:p>
            <a:pPr algn="l">
              <a:lnSpc>
                <a:spcPts val="3657"/>
              </a:lnSpc>
            </a:pPr>
          </a:p>
        </p:txBody>
      </p:sp>
      <p:sp>
        <p:nvSpPr>
          <p:cNvPr name="TextBox 8" id="8"/>
          <p:cNvSpPr txBox="true"/>
          <p:nvPr/>
        </p:nvSpPr>
        <p:spPr>
          <a:xfrm rot="0">
            <a:off x="8812557" y="122310"/>
            <a:ext cx="9171909" cy="10118579"/>
          </a:xfrm>
          <a:prstGeom prst="rect">
            <a:avLst/>
          </a:prstGeom>
        </p:spPr>
        <p:txBody>
          <a:bodyPr anchor="t" rtlCol="false" tIns="0" lIns="0" bIns="0" rIns="0">
            <a:spAutoFit/>
          </a:bodyPr>
          <a:lstStyle/>
          <a:p>
            <a:pPr algn="l">
              <a:lnSpc>
                <a:spcPts val="3510"/>
              </a:lnSpc>
            </a:pPr>
            <a:r>
              <a:rPr lang="en-US" sz="3695">
                <a:solidFill>
                  <a:srgbClr val="FFFFFF"/>
                </a:solidFill>
                <a:latin typeface="Bobby Jones"/>
                <a:ea typeface="Bobby Jones"/>
                <a:cs typeface="Bobby Jones"/>
                <a:sym typeface="Bobby Jones"/>
              </a:rPr>
              <a:t>Main FEATURES:</a:t>
            </a:r>
          </a:p>
          <a:p>
            <a:pPr algn="l">
              <a:lnSpc>
                <a:spcPts val="3510"/>
              </a:lnSpc>
            </a:pPr>
          </a:p>
          <a:p>
            <a:pPr algn="l" marL="797838" indent="-398919" lvl="1">
              <a:lnSpc>
                <a:spcPts val="3510"/>
              </a:lnSpc>
              <a:buFont typeface="Arial"/>
              <a:buChar char="•"/>
            </a:pPr>
            <a:r>
              <a:rPr lang="en-US" sz="3695">
                <a:solidFill>
                  <a:srgbClr val="FFFFFF"/>
                </a:solidFill>
                <a:latin typeface="Cloud Condensed"/>
                <a:ea typeface="Cloud Condensed"/>
                <a:cs typeface="Cloud Condensed"/>
                <a:sym typeface="Cloud Condensed"/>
              </a:rPr>
              <a:t>GPS-Based Reporting</a:t>
            </a:r>
          </a:p>
          <a:p>
            <a:pPr algn="l">
              <a:lnSpc>
                <a:spcPts val="3510"/>
              </a:lnSpc>
            </a:pPr>
            <a:r>
              <a:rPr lang="en-US" sz="3695">
                <a:solidFill>
                  <a:srgbClr val="FFFFFF"/>
                </a:solidFill>
                <a:latin typeface="Cloud Condensed"/>
                <a:ea typeface="Cloud Condensed"/>
                <a:cs typeface="Cloud Condensed"/>
                <a:sym typeface="Cloud Condensed"/>
              </a:rPr>
              <a:t> Records the location of reported pollution incidents, making them easier for authorities to investigate.</a:t>
            </a:r>
          </a:p>
          <a:p>
            <a:pPr algn="l" marL="797838" indent="-398919" lvl="1">
              <a:lnSpc>
                <a:spcPts val="3510"/>
              </a:lnSpc>
              <a:buFont typeface="Arial"/>
              <a:buChar char="•"/>
            </a:pPr>
            <a:r>
              <a:rPr lang="en-US" sz="3695">
                <a:solidFill>
                  <a:srgbClr val="FFFFFF"/>
                </a:solidFill>
                <a:latin typeface="Cloud Condensed"/>
                <a:ea typeface="Cloud Condensed"/>
                <a:cs typeface="Cloud Condensed"/>
                <a:sym typeface="Cloud Condensed"/>
              </a:rPr>
              <a:t>Pollution Analytics</a:t>
            </a:r>
          </a:p>
          <a:p>
            <a:pPr algn="l">
              <a:lnSpc>
                <a:spcPts val="3510"/>
              </a:lnSpc>
            </a:pPr>
            <a:r>
              <a:rPr lang="en-US" sz="3695">
                <a:solidFill>
                  <a:srgbClr val="FFFFFF"/>
                </a:solidFill>
                <a:latin typeface="Cloud Condensed"/>
                <a:ea typeface="Cloud Condensed"/>
                <a:cs typeface="Cloud Condensed"/>
                <a:sym typeface="Cloud Condensed"/>
              </a:rPr>
              <a:t> Helps authorities understand pollution trends, affected areas and recurring incidents.</a:t>
            </a:r>
          </a:p>
          <a:p>
            <a:pPr algn="l" marL="797838" indent="-398919" lvl="1">
              <a:lnSpc>
                <a:spcPts val="3510"/>
              </a:lnSpc>
              <a:buFont typeface="Arial"/>
              <a:buChar char="•"/>
            </a:pPr>
            <a:r>
              <a:rPr lang="en-US" sz="3695">
                <a:solidFill>
                  <a:srgbClr val="FFFFFF"/>
                </a:solidFill>
                <a:latin typeface="Cloud Condensed"/>
                <a:ea typeface="Cloud Condensed"/>
                <a:cs typeface="Cloud Condensed"/>
                <a:sym typeface="Cloud Condensed"/>
              </a:rPr>
              <a:t>Smart Prioritization</a:t>
            </a:r>
          </a:p>
          <a:p>
            <a:pPr algn="l">
              <a:lnSpc>
                <a:spcPts val="3510"/>
              </a:lnSpc>
            </a:pPr>
            <a:r>
              <a:rPr lang="en-US" sz="3695">
                <a:solidFill>
                  <a:srgbClr val="FFFFFF"/>
                </a:solidFill>
                <a:latin typeface="Cloud Condensed"/>
                <a:ea typeface="Cloud Condensed"/>
                <a:cs typeface="Cloud Condensed"/>
                <a:sym typeface="Cloud Condensed"/>
              </a:rPr>
              <a:t> Ranks complaints based on severity, location and potential environmental impact.</a:t>
            </a:r>
          </a:p>
          <a:p>
            <a:pPr algn="l" marL="797838" indent="-398919" lvl="1">
              <a:lnSpc>
                <a:spcPts val="3510"/>
              </a:lnSpc>
              <a:buFont typeface="Arial"/>
              <a:buChar char="•"/>
            </a:pPr>
            <a:r>
              <a:rPr lang="en-US" sz="3695">
                <a:solidFill>
                  <a:srgbClr val="FFFFFF"/>
                </a:solidFill>
                <a:latin typeface="Cloud Condensed"/>
                <a:ea typeface="Cloud Condensed"/>
                <a:cs typeface="Cloud Condensed"/>
                <a:sym typeface="Cloud Condensed"/>
              </a:rPr>
              <a:t>Hotspot Identification</a:t>
            </a:r>
          </a:p>
          <a:p>
            <a:pPr algn="l">
              <a:lnSpc>
                <a:spcPts val="3510"/>
              </a:lnSpc>
            </a:pPr>
            <a:r>
              <a:rPr lang="en-US" sz="3695">
                <a:solidFill>
                  <a:srgbClr val="FFFFFF"/>
                </a:solidFill>
                <a:latin typeface="Cloud Condensed"/>
                <a:ea typeface="Cloud Condensed"/>
                <a:cs typeface="Cloud Condensed"/>
                <a:sym typeface="Cloud Condensed"/>
              </a:rPr>
              <a:t> Uses previous reports to identify areas experiencing repeated pollution.</a:t>
            </a:r>
          </a:p>
          <a:p>
            <a:pPr algn="l" marL="797838" indent="-398919" lvl="1">
              <a:lnSpc>
                <a:spcPts val="3510"/>
              </a:lnSpc>
              <a:buFont typeface="Arial"/>
              <a:buChar char="•"/>
            </a:pPr>
            <a:r>
              <a:rPr lang="en-US" sz="3695">
                <a:solidFill>
                  <a:srgbClr val="FFFFFF"/>
                </a:solidFill>
                <a:latin typeface="Cloud Condensed"/>
                <a:ea typeface="Cloud Condensed"/>
                <a:cs typeface="Cloud Condensed"/>
                <a:sym typeface="Cloud Condensed"/>
              </a:rPr>
              <a:t>Complaint Tracking</a:t>
            </a:r>
          </a:p>
          <a:p>
            <a:pPr algn="l">
              <a:lnSpc>
                <a:spcPts val="3510"/>
              </a:lnSpc>
            </a:pPr>
            <a:r>
              <a:rPr lang="en-US" sz="3695">
                <a:solidFill>
                  <a:srgbClr val="FFFFFF"/>
                </a:solidFill>
                <a:latin typeface="Cloud Condensed"/>
                <a:ea typeface="Cloud Condensed"/>
                <a:cs typeface="Cloud Condensed"/>
                <a:sym typeface="Cloud Condensed"/>
              </a:rPr>
              <a:t> Allows citizens to follow the progress of their submitted complaints.</a:t>
            </a:r>
          </a:p>
          <a:p>
            <a:pPr algn="l">
              <a:lnSpc>
                <a:spcPts val="3510"/>
              </a:lnSpc>
            </a:pPr>
          </a:p>
          <a:p>
            <a:pPr algn="l">
              <a:lnSpc>
                <a:spcPts val="3510"/>
              </a:lnSpc>
            </a:pPr>
          </a:p>
          <a:p>
            <a:pPr algn="l">
              <a:lnSpc>
                <a:spcPts val="3510"/>
              </a:lnSpc>
            </a:pPr>
          </a:p>
          <a:p>
            <a:pPr algn="l">
              <a:lnSpc>
                <a:spcPts val="3510"/>
              </a:lnSpc>
            </a:pPr>
          </a:p>
          <a:p>
            <a:pPr algn="r">
              <a:lnSpc>
                <a:spcPts val="3510"/>
              </a:lnSpc>
            </a:pPr>
            <a:r>
              <a:rPr lang="en-US" sz="3695">
                <a:solidFill>
                  <a:srgbClr val="000000"/>
                </a:solidFill>
                <a:latin typeface="Cloud Condensed"/>
                <a:ea typeface="Cloud Condensed"/>
                <a:cs typeface="Cloud Condensed"/>
                <a:sym typeface="Cloud Condensed"/>
              </a:rPr>
              <a:t>NAMITA JINESH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grpSp>
        <p:nvGrpSpPr>
          <p:cNvPr name="Group 2" id="2"/>
          <p:cNvGrpSpPr/>
          <p:nvPr/>
        </p:nvGrpSpPr>
        <p:grpSpPr>
          <a:xfrm rot="0">
            <a:off x="-7913870" y="-3015569"/>
            <a:ext cx="15704920" cy="157049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50204" y="0"/>
                  </a:moveTo>
                  <a:lnTo>
                    <a:pt x="662596" y="0"/>
                  </a:lnTo>
                  <a:cubicBezTo>
                    <a:pt x="702432" y="0"/>
                    <a:pt x="740637" y="15825"/>
                    <a:pt x="768806" y="43994"/>
                  </a:cubicBezTo>
                  <a:cubicBezTo>
                    <a:pt x="796975" y="72163"/>
                    <a:pt x="812800" y="110368"/>
                    <a:pt x="812800" y="150204"/>
                  </a:cubicBezTo>
                  <a:lnTo>
                    <a:pt x="812800" y="662596"/>
                  </a:lnTo>
                  <a:cubicBezTo>
                    <a:pt x="812800" y="702432"/>
                    <a:pt x="796975" y="740637"/>
                    <a:pt x="768806" y="768806"/>
                  </a:cubicBezTo>
                  <a:cubicBezTo>
                    <a:pt x="740637" y="796975"/>
                    <a:pt x="702432" y="812800"/>
                    <a:pt x="662596" y="812800"/>
                  </a:cubicBezTo>
                  <a:lnTo>
                    <a:pt x="150204" y="812800"/>
                  </a:lnTo>
                  <a:cubicBezTo>
                    <a:pt x="110368" y="812800"/>
                    <a:pt x="72163" y="796975"/>
                    <a:pt x="43994" y="768806"/>
                  </a:cubicBezTo>
                  <a:cubicBezTo>
                    <a:pt x="15825" y="740637"/>
                    <a:pt x="0" y="702432"/>
                    <a:pt x="0" y="662596"/>
                  </a:cubicBezTo>
                  <a:lnTo>
                    <a:pt x="0" y="150204"/>
                  </a:lnTo>
                  <a:cubicBezTo>
                    <a:pt x="0" y="110368"/>
                    <a:pt x="15825" y="72163"/>
                    <a:pt x="43994" y="43994"/>
                  </a:cubicBezTo>
                  <a:cubicBezTo>
                    <a:pt x="72163" y="15825"/>
                    <a:pt x="110368" y="0"/>
                    <a:pt x="150204" y="0"/>
                  </a:cubicBezTo>
                  <a:close/>
                </a:path>
              </a:pathLst>
            </a:custGeom>
            <a:solidFill>
              <a:srgbClr val="786948"/>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7958248" y="2023199"/>
            <a:ext cx="10329752" cy="8263801"/>
          </a:xfrm>
          <a:custGeom>
            <a:avLst/>
            <a:gdLst/>
            <a:ahLst/>
            <a:cxnLst/>
            <a:rect r="r" b="b" t="t" l="l"/>
            <a:pathLst>
              <a:path h="8263801" w="10329752">
                <a:moveTo>
                  <a:pt x="0" y="0"/>
                </a:moveTo>
                <a:lnTo>
                  <a:pt x="10329752" y="0"/>
                </a:lnTo>
                <a:lnTo>
                  <a:pt x="10329752" y="8263801"/>
                </a:lnTo>
                <a:lnTo>
                  <a:pt x="0" y="8263801"/>
                </a:lnTo>
                <a:lnTo>
                  <a:pt x="0"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7555348" y="264249"/>
            <a:ext cx="10732652" cy="1758950"/>
          </a:xfrm>
          <a:prstGeom prst="rect">
            <a:avLst/>
          </a:prstGeom>
        </p:spPr>
        <p:txBody>
          <a:bodyPr anchor="t" rtlCol="false" tIns="0" lIns="0" bIns="0" rIns="0">
            <a:spAutoFit/>
          </a:bodyPr>
          <a:lstStyle/>
          <a:p>
            <a:pPr algn="ctr">
              <a:lnSpc>
                <a:spcPts val="7000"/>
              </a:lnSpc>
              <a:spcBef>
                <a:spcPct val="0"/>
              </a:spcBef>
            </a:pPr>
            <a:r>
              <a:rPr lang="en-US" sz="5000">
                <a:solidFill>
                  <a:srgbClr val="000000"/>
                </a:solidFill>
                <a:latin typeface="Bobby Jones"/>
                <a:ea typeface="Bobby Jones"/>
                <a:cs typeface="Bobby Jones"/>
                <a:sym typeface="Bobby Jones"/>
              </a:rPr>
              <a:t>3.Location-Based Pollution Hotspot Mapping</a:t>
            </a:r>
          </a:p>
        </p:txBody>
      </p:sp>
      <p:sp>
        <p:nvSpPr>
          <p:cNvPr name="TextBox 7" id="7"/>
          <p:cNvSpPr txBox="true"/>
          <p:nvPr/>
        </p:nvSpPr>
        <p:spPr>
          <a:xfrm rot="0">
            <a:off x="8104050" y="2762861"/>
            <a:ext cx="10183950" cy="2362200"/>
          </a:xfrm>
          <a:prstGeom prst="rect">
            <a:avLst/>
          </a:prstGeom>
        </p:spPr>
        <p:txBody>
          <a:bodyPr anchor="t" rtlCol="false" tIns="0" lIns="0" bIns="0" rIns="0">
            <a:spAutoFit/>
          </a:bodyPr>
          <a:lstStyle/>
          <a:p>
            <a:pPr algn="l">
              <a:lnSpc>
                <a:spcPts val="6719"/>
              </a:lnSpc>
            </a:pPr>
            <a:r>
              <a:rPr lang="en-US" sz="4800" b="true">
                <a:solidFill>
                  <a:srgbClr val="000000"/>
                </a:solidFill>
                <a:latin typeface="Cloud Condensed Bold"/>
                <a:ea typeface="Cloud Condensed Bold"/>
                <a:cs typeface="Cloud Condensed Bold"/>
                <a:sym typeface="Cloud Condensed Bold"/>
              </a:rPr>
              <a:t>💡 Solution:</a:t>
            </a:r>
          </a:p>
          <a:p>
            <a:pPr algn="l">
              <a:lnSpc>
                <a:spcPts val="5880"/>
              </a:lnSpc>
              <a:spcBef>
                <a:spcPct val="0"/>
              </a:spcBef>
            </a:pPr>
            <a:r>
              <a:rPr lang="en-US" sz="4200">
                <a:solidFill>
                  <a:srgbClr val="000000"/>
                </a:solidFill>
                <a:latin typeface="Cloud Condensed"/>
                <a:ea typeface="Cloud Condensed"/>
                <a:cs typeface="Cloud Condensed"/>
                <a:sym typeface="Cloud Condensed"/>
              </a:rPr>
              <a:t>Develop a portal that collects pollution complaints and displays them on an interactive map.</a:t>
            </a:r>
          </a:p>
        </p:txBody>
      </p:sp>
      <p:sp>
        <p:nvSpPr>
          <p:cNvPr name="TextBox 8" id="8"/>
          <p:cNvSpPr txBox="true"/>
          <p:nvPr/>
        </p:nvSpPr>
        <p:spPr>
          <a:xfrm rot="0">
            <a:off x="0" y="254724"/>
            <a:ext cx="7181211" cy="8894958"/>
          </a:xfrm>
          <a:prstGeom prst="rect">
            <a:avLst/>
          </a:prstGeom>
        </p:spPr>
        <p:txBody>
          <a:bodyPr anchor="t" rtlCol="false" tIns="0" lIns="0" bIns="0" rIns="0">
            <a:spAutoFit/>
          </a:bodyPr>
          <a:lstStyle/>
          <a:p>
            <a:pPr algn="ctr">
              <a:lnSpc>
                <a:spcPts val="8680"/>
              </a:lnSpc>
            </a:pPr>
            <a:r>
              <a:rPr lang="en-US" sz="6200" b="true">
                <a:solidFill>
                  <a:srgbClr val="FFFFFF"/>
                </a:solidFill>
                <a:latin typeface="Gotham Condensed Bold"/>
                <a:ea typeface="Gotham Condensed Bold"/>
                <a:cs typeface="Gotham Condensed Bold"/>
                <a:sym typeface="Gotham Condensed Bold"/>
              </a:rPr>
              <a:t>Main features :</a:t>
            </a:r>
          </a:p>
          <a:p>
            <a:pPr algn="l" marL="952033" indent="-476017" lvl="1">
              <a:lnSpc>
                <a:spcPts val="6173"/>
              </a:lnSpc>
              <a:buFont typeface="Arial"/>
              <a:buChar char="•"/>
            </a:pPr>
            <a:r>
              <a:rPr lang="en-US" sz="4409">
                <a:solidFill>
                  <a:srgbClr val="FFFFFF"/>
                </a:solidFill>
                <a:latin typeface="Cloud Condensed"/>
                <a:ea typeface="Cloud Condensed"/>
                <a:cs typeface="Cloud Condensed"/>
                <a:sym typeface="Cloud Condensed"/>
              </a:rPr>
              <a:t>Users report pollution with location.</a:t>
            </a:r>
          </a:p>
          <a:p>
            <a:pPr algn="l" marL="952033" indent="-476017" lvl="1">
              <a:lnSpc>
                <a:spcPts val="6173"/>
              </a:lnSpc>
              <a:buFont typeface="Arial"/>
              <a:buChar char="•"/>
            </a:pPr>
            <a:r>
              <a:rPr lang="en-US" sz="4409">
                <a:solidFill>
                  <a:srgbClr val="FFFFFF"/>
                </a:solidFill>
                <a:latin typeface="Cloud Condensed"/>
                <a:ea typeface="Cloud Condensed"/>
                <a:cs typeface="Cloud Condensed"/>
                <a:sym typeface="Cloud Condensed"/>
              </a:rPr>
              <a:t>Pollution incidents appear as map markers.</a:t>
            </a:r>
          </a:p>
          <a:p>
            <a:pPr algn="l" marL="952033" indent="-476017" lvl="1">
              <a:lnSpc>
                <a:spcPts val="6173"/>
              </a:lnSpc>
              <a:buFont typeface="Arial"/>
              <a:buChar char="•"/>
            </a:pPr>
            <a:r>
              <a:rPr lang="en-US" sz="4409">
                <a:solidFill>
                  <a:srgbClr val="FFFFFF"/>
                </a:solidFill>
                <a:latin typeface="Cloud Condensed"/>
                <a:ea typeface="Cloud Condensed"/>
                <a:cs typeface="Cloud Condensed"/>
                <a:sym typeface="Cloud Condensed"/>
              </a:rPr>
              <a:t>Frequently reported areas become pollution hotspots.</a:t>
            </a:r>
          </a:p>
          <a:p>
            <a:pPr algn="l" marL="952033" indent="-476017" lvl="1">
              <a:lnSpc>
                <a:spcPts val="6173"/>
              </a:lnSpc>
              <a:buFont typeface="Arial"/>
              <a:buChar char="•"/>
            </a:pPr>
            <a:r>
              <a:rPr lang="en-US" sz="4409">
                <a:solidFill>
                  <a:srgbClr val="FFFFFF"/>
                </a:solidFill>
                <a:latin typeface="Cloud Condensed"/>
                <a:ea typeface="Cloud Condensed"/>
                <a:cs typeface="Cloud Condensed"/>
                <a:sym typeface="Cloud Condensed"/>
              </a:rPr>
              <a:t>Users can view pollution problems near their area.</a:t>
            </a:r>
          </a:p>
          <a:p>
            <a:pPr algn="l" marL="952033" indent="-476017" lvl="1">
              <a:lnSpc>
                <a:spcPts val="6173"/>
              </a:lnSpc>
              <a:buFont typeface="Arial"/>
              <a:buChar char="•"/>
            </a:pPr>
            <a:r>
              <a:rPr lang="en-US" sz="4409">
                <a:solidFill>
                  <a:srgbClr val="FFFFFF"/>
                </a:solidFill>
                <a:latin typeface="Cloud Condensed"/>
                <a:ea typeface="Cloud Condensed"/>
                <a:cs typeface="Cloud Condensed"/>
                <a:sym typeface="Cloud Condensed"/>
              </a:rPr>
              <a:t>Authorities can identify areas requiring immediate attention.</a:t>
            </a:r>
          </a:p>
        </p:txBody>
      </p:sp>
      <p:sp>
        <p:nvSpPr>
          <p:cNvPr name="TextBox 9" id="9"/>
          <p:cNvSpPr txBox="true"/>
          <p:nvPr/>
        </p:nvSpPr>
        <p:spPr>
          <a:xfrm rot="0">
            <a:off x="8104050" y="6527045"/>
            <a:ext cx="8656069" cy="2988945"/>
          </a:xfrm>
          <a:prstGeom prst="rect">
            <a:avLst/>
          </a:prstGeom>
        </p:spPr>
        <p:txBody>
          <a:bodyPr anchor="t" rtlCol="false" tIns="0" lIns="0" bIns="0" rIns="0">
            <a:spAutoFit/>
          </a:bodyPr>
          <a:lstStyle/>
          <a:p>
            <a:pPr algn="ctr">
              <a:lnSpc>
                <a:spcPts val="5880"/>
              </a:lnSpc>
              <a:spcBef>
                <a:spcPct val="0"/>
              </a:spcBef>
            </a:pPr>
          </a:p>
          <a:p>
            <a:pPr algn="l">
              <a:lnSpc>
                <a:spcPts val="5880"/>
              </a:lnSpc>
              <a:spcBef>
                <a:spcPct val="0"/>
              </a:spcBef>
            </a:pPr>
            <a:r>
              <a:rPr lang="en-US" sz="4200">
                <a:solidFill>
                  <a:srgbClr val="000000"/>
                </a:solidFill>
                <a:latin typeface="Cloud Condensed"/>
                <a:ea typeface="Cloud Condensed"/>
                <a:cs typeface="Cloud Condensed"/>
                <a:sym typeface="Cloud Condensed"/>
              </a:rPr>
              <a:t>A map-based visualization system helps identify locations where pollution repeatedly occurs.</a:t>
            </a:r>
          </a:p>
        </p:txBody>
      </p:sp>
      <p:sp>
        <p:nvSpPr>
          <p:cNvPr name="TextBox 10" id="10"/>
          <p:cNvSpPr txBox="true"/>
          <p:nvPr/>
        </p:nvSpPr>
        <p:spPr>
          <a:xfrm rot="0">
            <a:off x="8083016" y="6145093"/>
            <a:ext cx="2803578" cy="868680"/>
          </a:xfrm>
          <a:prstGeom prst="rect">
            <a:avLst/>
          </a:prstGeom>
        </p:spPr>
        <p:txBody>
          <a:bodyPr anchor="t" rtlCol="false" tIns="0" lIns="0" bIns="0" rIns="0">
            <a:spAutoFit/>
          </a:bodyPr>
          <a:lstStyle/>
          <a:p>
            <a:pPr algn="ctr">
              <a:lnSpc>
                <a:spcPts val="6719"/>
              </a:lnSpc>
              <a:spcBef>
                <a:spcPct val="0"/>
              </a:spcBef>
            </a:pPr>
            <a:r>
              <a:rPr lang="en-US" b="true" sz="4800">
                <a:solidFill>
                  <a:srgbClr val="000000"/>
                </a:solidFill>
                <a:latin typeface="Cloud Condensed Bold"/>
                <a:ea typeface="Cloud Condensed Bold"/>
                <a:cs typeface="Cloud Condensed Bold"/>
                <a:sym typeface="Cloud Condensed Bold"/>
              </a:rPr>
              <a:t>Unique idea:</a:t>
            </a:r>
          </a:p>
        </p:txBody>
      </p:sp>
      <p:sp>
        <p:nvSpPr>
          <p:cNvPr name="TextBox 11" id="11"/>
          <p:cNvSpPr txBox="true"/>
          <p:nvPr/>
        </p:nvSpPr>
        <p:spPr>
          <a:xfrm rot="0">
            <a:off x="14277509" y="9592945"/>
            <a:ext cx="4965220" cy="694055"/>
          </a:xfrm>
          <a:prstGeom prst="rect">
            <a:avLst/>
          </a:prstGeom>
        </p:spPr>
        <p:txBody>
          <a:bodyPr anchor="t" rtlCol="false" tIns="0" lIns="0" bIns="0" rIns="0">
            <a:spAutoFit/>
          </a:bodyPr>
          <a:lstStyle/>
          <a:p>
            <a:pPr algn="ctr">
              <a:lnSpc>
                <a:spcPts val="5320"/>
              </a:lnSpc>
              <a:spcBef>
                <a:spcPct val="0"/>
              </a:spcBef>
            </a:pPr>
            <a:r>
              <a:rPr lang="en-US" sz="3800">
                <a:solidFill>
                  <a:srgbClr val="000000"/>
                </a:solidFill>
                <a:latin typeface="Cloud Condensed"/>
                <a:ea typeface="Cloud Condensed"/>
                <a:cs typeface="Cloud Condensed"/>
                <a:sym typeface="Cloud Condensed"/>
              </a:rPr>
              <a:t>NANDHANA SUNIL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grpSp>
        <p:nvGrpSpPr>
          <p:cNvPr name="Group 2" id="2"/>
          <p:cNvGrpSpPr/>
          <p:nvPr/>
        </p:nvGrpSpPr>
        <p:grpSpPr>
          <a:xfrm rot="0">
            <a:off x="-4970216" y="-206690"/>
            <a:ext cx="8383464" cy="10700381"/>
            <a:chOff x="0" y="0"/>
            <a:chExt cx="433882" cy="553793"/>
          </a:xfrm>
        </p:grpSpPr>
        <p:sp>
          <p:nvSpPr>
            <p:cNvPr name="Freeform 3" id="3"/>
            <p:cNvSpPr/>
            <p:nvPr/>
          </p:nvSpPr>
          <p:spPr>
            <a:xfrm flipH="false" flipV="false" rot="0">
              <a:off x="0" y="0"/>
              <a:ext cx="433882" cy="553793"/>
            </a:xfrm>
            <a:custGeom>
              <a:avLst/>
              <a:gdLst/>
              <a:ahLst/>
              <a:cxnLst/>
              <a:rect r="r" b="b" t="t" l="l"/>
              <a:pathLst>
                <a:path h="553793" w="433882">
                  <a:moveTo>
                    <a:pt x="92348" y="0"/>
                  </a:moveTo>
                  <a:lnTo>
                    <a:pt x="341534" y="0"/>
                  </a:lnTo>
                  <a:cubicBezTo>
                    <a:pt x="392536" y="0"/>
                    <a:pt x="433882" y="41345"/>
                    <a:pt x="433882" y="92348"/>
                  </a:cubicBezTo>
                  <a:lnTo>
                    <a:pt x="433882" y="461445"/>
                  </a:lnTo>
                  <a:cubicBezTo>
                    <a:pt x="433882" y="512447"/>
                    <a:pt x="392536" y="553793"/>
                    <a:pt x="341534" y="553793"/>
                  </a:cubicBezTo>
                  <a:lnTo>
                    <a:pt x="92348" y="553793"/>
                  </a:lnTo>
                  <a:cubicBezTo>
                    <a:pt x="41345" y="553793"/>
                    <a:pt x="0" y="512447"/>
                    <a:pt x="0" y="461445"/>
                  </a:cubicBezTo>
                  <a:lnTo>
                    <a:pt x="0" y="92348"/>
                  </a:lnTo>
                  <a:cubicBezTo>
                    <a:pt x="0" y="41345"/>
                    <a:pt x="41345" y="0"/>
                    <a:pt x="92348" y="0"/>
                  </a:cubicBezTo>
                  <a:close/>
                </a:path>
              </a:pathLst>
            </a:custGeom>
            <a:solidFill>
              <a:srgbClr val="786948"/>
            </a:solidFill>
          </p:spPr>
        </p:sp>
        <p:sp>
          <p:nvSpPr>
            <p:cNvPr name="TextBox 4" id="4"/>
            <p:cNvSpPr txBox="true"/>
            <p:nvPr/>
          </p:nvSpPr>
          <p:spPr>
            <a:xfrm>
              <a:off x="0" y="-38100"/>
              <a:ext cx="433882" cy="59189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6378890"/>
            <a:ext cx="5795493" cy="4114800"/>
          </a:xfrm>
          <a:custGeom>
            <a:avLst/>
            <a:gdLst/>
            <a:ahLst/>
            <a:cxnLst/>
            <a:rect r="r" b="b" t="t" l="l"/>
            <a:pathLst>
              <a:path h="4114800" w="5795493">
                <a:moveTo>
                  <a:pt x="0" y="0"/>
                </a:moveTo>
                <a:lnTo>
                  <a:pt x="5795493" y="0"/>
                </a:lnTo>
                <a:lnTo>
                  <a:pt x="579549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161171" y="2170658"/>
            <a:ext cx="13098129" cy="7341990"/>
          </a:xfrm>
          <a:prstGeom prst="rect">
            <a:avLst/>
          </a:prstGeom>
        </p:spPr>
        <p:txBody>
          <a:bodyPr anchor="t" rtlCol="false" tIns="0" lIns="0" bIns="0" rIns="0">
            <a:spAutoFit/>
          </a:bodyPr>
          <a:lstStyle/>
          <a:p>
            <a:pPr algn="l" marL="743838" indent="-371919" lvl="1">
              <a:lnSpc>
                <a:spcPts val="4823"/>
              </a:lnSpc>
              <a:buFont typeface="Arial"/>
              <a:buChar char="•"/>
            </a:pPr>
            <a:r>
              <a:rPr lang="en-US" sz="3445">
                <a:solidFill>
                  <a:srgbClr val="000000"/>
                </a:solidFill>
                <a:latin typeface="Cloud Condensed"/>
                <a:ea typeface="Cloud Condensed"/>
                <a:cs typeface="Cloud Condensed"/>
                <a:sym typeface="Cloud Condensed"/>
              </a:rPr>
              <a:t>The Geo-Tagged Environmental Complaint &amp; Reporting Portal is designed to make environmental pollution reporting easier, faster, and more accurate.</a:t>
            </a:r>
          </a:p>
          <a:p>
            <a:pPr algn="l" marL="743838" indent="-371919" lvl="1">
              <a:lnSpc>
                <a:spcPts val="4823"/>
              </a:lnSpc>
              <a:buFont typeface="Arial"/>
              <a:buChar char="•"/>
            </a:pPr>
            <a:r>
              <a:rPr lang="en-US" sz="3445">
                <a:solidFill>
                  <a:srgbClr val="000000"/>
                </a:solidFill>
                <a:latin typeface="Cloud Condensed"/>
                <a:ea typeface="Cloud Condensed"/>
                <a:cs typeface="Cloud Condensed"/>
                <a:sym typeface="Cloud Condensed"/>
              </a:rPr>
              <a:t>It allows users to report issues such as illegal dumping, water pollution, air pollution, and excessive waste by providing a description and the exact location of the pollution using geo-tagging.</a:t>
            </a:r>
          </a:p>
          <a:p>
            <a:pPr algn="l" marL="743838" indent="-371919" lvl="1">
              <a:lnSpc>
                <a:spcPts val="4823"/>
              </a:lnSpc>
              <a:buFont typeface="Arial"/>
              <a:buChar char="•"/>
            </a:pPr>
            <a:r>
              <a:rPr lang="en-US" sz="3445">
                <a:solidFill>
                  <a:srgbClr val="000000"/>
                </a:solidFill>
                <a:latin typeface="Cloud Condensed"/>
                <a:ea typeface="Cloud Condensed"/>
                <a:cs typeface="Cloud Condensed"/>
                <a:sym typeface="Cloud Condensed"/>
              </a:rPr>
              <a:t>Users can also upload photographic evidence and indicate the severity of the problem. Each complaint receives a unique ID so that its progress can be tracked.</a:t>
            </a:r>
          </a:p>
          <a:p>
            <a:pPr algn="l" marL="743838" indent="-371919" lvl="1">
              <a:lnSpc>
                <a:spcPts val="4823"/>
              </a:lnSpc>
              <a:buFont typeface="Arial"/>
              <a:buChar char="•"/>
            </a:pPr>
            <a:r>
              <a:rPr lang="en-US" sz="3445">
                <a:solidFill>
                  <a:srgbClr val="000000"/>
                </a:solidFill>
                <a:latin typeface="Cloud Condensed"/>
                <a:ea typeface="Cloud Condensed"/>
                <a:cs typeface="Cloud Condensed"/>
                <a:sym typeface="Cloud Condensed"/>
              </a:rPr>
              <a:t>The system helps authorities verify complaints, prioritize serious cases, identify pollution hotspots, and take appropriate action.</a:t>
            </a:r>
          </a:p>
          <a:p>
            <a:pPr algn="l" marL="743838" indent="-371919" lvl="1">
              <a:lnSpc>
                <a:spcPts val="4823"/>
              </a:lnSpc>
              <a:buFont typeface="Arial"/>
              <a:buChar char="•"/>
            </a:pPr>
            <a:r>
              <a:rPr lang="en-US" sz="3445">
                <a:solidFill>
                  <a:srgbClr val="000000"/>
                </a:solidFill>
                <a:latin typeface="Cloud Condensed"/>
                <a:ea typeface="Cloud Condensed"/>
                <a:cs typeface="Cloud Condensed"/>
                <a:sym typeface="Cloud Condensed"/>
              </a:rPr>
              <a:t>This can improve the accuracy of environmental reporting, enable faster response, and encourage citizen participation in protecting the environment.</a:t>
            </a:r>
          </a:p>
        </p:txBody>
      </p:sp>
      <p:sp>
        <p:nvSpPr>
          <p:cNvPr name="Freeform 7" id="7"/>
          <p:cNvSpPr/>
          <p:nvPr/>
        </p:nvSpPr>
        <p:spPr>
          <a:xfrm flipH="false" flipV="false" rot="0">
            <a:off x="3413248" y="1784003"/>
            <a:ext cx="14874752" cy="8229600"/>
          </a:xfrm>
          <a:custGeom>
            <a:avLst/>
            <a:gdLst/>
            <a:ahLst/>
            <a:cxnLst/>
            <a:rect r="r" b="b" t="t" l="l"/>
            <a:pathLst>
              <a:path h="8229600" w="14874752">
                <a:moveTo>
                  <a:pt x="0" y="0"/>
                </a:moveTo>
                <a:lnTo>
                  <a:pt x="14874752" y="0"/>
                </a:lnTo>
                <a:lnTo>
                  <a:pt x="14874752" y="8229600"/>
                </a:lnTo>
                <a:lnTo>
                  <a:pt x="0" y="8229600"/>
                </a:lnTo>
                <a:lnTo>
                  <a:pt x="0" y="0"/>
                </a:lnTo>
                <a:close/>
              </a:path>
            </a:pathLst>
          </a:custGeom>
          <a:blipFill>
            <a:blip r:embed="rId4">
              <a:alphaModFix amt="13000"/>
            </a:blip>
            <a:stretch>
              <a:fillRect l="0" t="-34047" r="0" b="-34047"/>
            </a:stretch>
          </a:blipFill>
          <a:ln cap="sq">
            <a:noFill/>
            <a:prstDash val="solid"/>
            <a:miter/>
          </a:ln>
        </p:spPr>
      </p:sp>
      <p:sp>
        <p:nvSpPr>
          <p:cNvPr name="TextBox 8" id="8"/>
          <p:cNvSpPr txBox="true"/>
          <p:nvPr/>
        </p:nvSpPr>
        <p:spPr>
          <a:xfrm rot="0">
            <a:off x="3730337" y="155269"/>
            <a:ext cx="14557663" cy="1642086"/>
          </a:xfrm>
          <a:prstGeom prst="rect">
            <a:avLst/>
          </a:prstGeom>
        </p:spPr>
        <p:txBody>
          <a:bodyPr anchor="t" rtlCol="false" tIns="0" lIns="0" bIns="0" rIns="0">
            <a:spAutoFit/>
          </a:bodyPr>
          <a:lstStyle/>
          <a:p>
            <a:pPr algn="ctr">
              <a:lnSpc>
                <a:spcPts val="6543"/>
              </a:lnSpc>
              <a:spcBef>
                <a:spcPct val="0"/>
              </a:spcBef>
            </a:pPr>
            <a:r>
              <a:rPr lang="en-US" sz="4673">
                <a:solidFill>
                  <a:srgbClr val="000000"/>
                </a:solidFill>
                <a:latin typeface="Bobby Jones"/>
                <a:ea typeface="Bobby Jones"/>
                <a:cs typeface="Bobby Jones"/>
                <a:sym typeface="Bobby Jones"/>
              </a:rPr>
              <a:t>4.GEO-TAGGED ENVIRONMENTAL COMPLAINT &amp; REPORTING PORTAL</a:t>
            </a:r>
          </a:p>
        </p:txBody>
      </p:sp>
      <p:sp>
        <p:nvSpPr>
          <p:cNvPr name="TextBox 9" id="9"/>
          <p:cNvSpPr txBox="true"/>
          <p:nvPr/>
        </p:nvSpPr>
        <p:spPr>
          <a:xfrm rot="0">
            <a:off x="15282416" y="9658985"/>
            <a:ext cx="3005584" cy="628015"/>
          </a:xfrm>
          <a:prstGeom prst="rect">
            <a:avLst/>
          </a:prstGeom>
        </p:spPr>
        <p:txBody>
          <a:bodyPr anchor="t" rtlCol="false" tIns="0" lIns="0" bIns="0" rIns="0">
            <a:spAutoFit/>
          </a:bodyPr>
          <a:lstStyle/>
          <a:p>
            <a:pPr algn="ctr">
              <a:lnSpc>
                <a:spcPts val="4759"/>
              </a:lnSpc>
            </a:pPr>
            <a:r>
              <a:rPr lang="en-US" sz="3399">
                <a:solidFill>
                  <a:srgbClr val="000000"/>
                </a:solidFill>
                <a:latin typeface="Cloud Condensed"/>
                <a:ea typeface="Cloud Condensed"/>
                <a:cs typeface="Cloud Condensed"/>
                <a:sym typeface="Cloud Condensed"/>
              </a:rPr>
              <a:t>NAMITHA THOMAS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TextBox 2" id="2"/>
          <p:cNvSpPr txBox="true"/>
          <p:nvPr/>
        </p:nvSpPr>
        <p:spPr>
          <a:xfrm rot="0">
            <a:off x="7555348" y="264249"/>
            <a:ext cx="10732652" cy="2644775"/>
          </a:xfrm>
          <a:prstGeom prst="rect">
            <a:avLst/>
          </a:prstGeom>
        </p:spPr>
        <p:txBody>
          <a:bodyPr anchor="t" rtlCol="false" tIns="0" lIns="0" bIns="0" rIns="0">
            <a:spAutoFit/>
          </a:bodyPr>
          <a:lstStyle/>
          <a:p>
            <a:pPr algn="ctr">
              <a:lnSpc>
                <a:spcPts val="7000"/>
              </a:lnSpc>
              <a:spcBef>
                <a:spcPct val="0"/>
              </a:spcBef>
            </a:pPr>
            <a:r>
              <a:rPr lang="en-US" sz="5000">
                <a:solidFill>
                  <a:srgbClr val="000000"/>
                </a:solidFill>
                <a:latin typeface="Bobby Jones"/>
                <a:ea typeface="Bobby Jones"/>
                <a:cs typeface="Bobby Jones"/>
                <a:sym typeface="Bobby Jones"/>
              </a:rPr>
              <a:t>5.SMART POLLUTION ALERT AND LOCATION-BASED ENVIRONMENTAL NOTIFICATION SYSTEM</a:t>
            </a:r>
          </a:p>
        </p:txBody>
      </p:sp>
      <p:grpSp>
        <p:nvGrpSpPr>
          <p:cNvPr name="Group 3" id="3"/>
          <p:cNvGrpSpPr/>
          <p:nvPr/>
        </p:nvGrpSpPr>
        <p:grpSpPr>
          <a:xfrm rot="0">
            <a:off x="-4855410" y="-19592"/>
            <a:ext cx="12511651" cy="10527891"/>
            <a:chOff x="0" y="0"/>
            <a:chExt cx="698488" cy="587741"/>
          </a:xfrm>
        </p:grpSpPr>
        <p:sp>
          <p:nvSpPr>
            <p:cNvPr name="Freeform 4" id="4"/>
            <p:cNvSpPr/>
            <p:nvPr/>
          </p:nvSpPr>
          <p:spPr>
            <a:xfrm flipH="false" flipV="false" rot="0">
              <a:off x="0" y="0"/>
              <a:ext cx="698488" cy="587741"/>
            </a:xfrm>
            <a:custGeom>
              <a:avLst/>
              <a:gdLst/>
              <a:ahLst/>
              <a:cxnLst/>
              <a:rect r="r" b="b" t="t" l="l"/>
              <a:pathLst>
                <a:path h="587741" w="698488">
                  <a:moveTo>
                    <a:pt x="188540" y="0"/>
                  </a:moveTo>
                  <a:lnTo>
                    <a:pt x="509948" y="0"/>
                  </a:lnTo>
                  <a:cubicBezTo>
                    <a:pt x="559952" y="0"/>
                    <a:pt x="607908" y="19864"/>
                    <a:pt x="643266" y="55222"/>
                  </a:cubicBezTo>
                  <a:cubicBezTo>
                    <a:pt x="678624" y="90580"/>
                    <a:pt x="698488" y="138536"/>
                    <a:pt x="698488" y="188540"/>
                  </a:cubicBezTo>
                  <a:lnTo>
                    <a:pt x="698488" y="399201"/>
                  </a:lnTo>
                  <a:cubicBezTo>
                    <a:pt x="698488" y="503329"/>
                    <a:pt x="614076" y="587741"/>
                    <a:pt x="509948" y="587741"/>
                  </a:cubicBezTo>
                  <a:lnTo>
                    <a:pt x="188540" y="587741"/>
                  </a:lnTo>
                  <a:cubicBezTo>
                    <a:pt x="138536" y="587741"/>
                    <a:pt x="90580" y="567877"/>
                    <a:pt x="55222" y="532519"/>
                  </a:cubicBezTo>
                  <a:cubicBezTo>
                    <a:pt x="19864" y="497161"/>
                    <a:pt x="0" y="449205"/>
                    <a:pt x="0" y="399201"/>
                  </a:cubicBezTo>
                  <a:lnTo>
                    <a:pt x="0" y="188540"/>
                  </a:lnTo>
                  <a:cubicBezTo>
                    <a:pt x="0" y="138536"/>
                    <a:pt x="19864" y="90580"/>
                    <a:pt x="55222" y="55222"/>
                  </a:cubicBezTo>
                  <a:cubicBezTo>
                    <a:pt x="90580" y="19864"/>
                    <a:pt x="138536" y="0"/>
                    <a:pt x="188540" y="0"/>
                  </a:cubicBezTo>
                  <a:close/>
                </a:path>
              </a:pathLst>
            </a:custGeom>
            <a:solidFill>
              <a:srgbClr val="786948"/>
            </a:solidFill>
          </p:spPr>
        </p:sp>
        <p:sp>
          <p:nvSpPr>
            <p:cNvPr name="TextBox 5" id="5"/>
            <p:cNvSpPr txBox="true"/>
            <p:nvPr/>
          </p:nvSpPr>
          <p:spPr>
            <a:xfrm>
              <a:off x="0" y="-38100"/>
              <a:ext cx="698488" cy="62584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7656241" y="2129449"/>
            <a:ext cx="10757647" cy="8229600"/>
          </a:xfrm>
          <a:custGeom>
            <a:avLst/>
            <a:gdLst/>
            <a:ahLst/>
            <a:cxnLst/>
            <a:rect r="r" b="b" t="t" l="l"/>
            <a:pathLst>
              <a:path h="8229600" w="10757647">
                <a:moveTo>
                  <a:pt x="0" y="0"/>
                </a:moveTo>
                <a:lnTo>
                  <a:pt x="10757647" y="0"/>
                </a:lnTo>
                <a:lnTo>
                  <a:pt x="10757647" y="8229600"/>
                </a:lnTo>
                <a:lnTo>
                  <a:pt x="0" y="8229600"/>
                </a:lnTo>
                <a:lnTo>
                  <a:pt x="0" y="0"/>
                </a:lnTo>
                <a:close/>
              </a:path>
            </a:pathLst>
          </a:custGeom>
          <a:blipFill>
            <a:blip r:embed="rId2">
              <a:alphaModFix amt="30000"/>
            </a:blip>
            <a:stretch>
              <a:fillRect l="0" t="0" r="0" b="0"/>
            </a:stretch>
          </a:blipFill>
        </p:spPr>
      </p:sp>
      <p:sp>
        <p:nvSpPr>
          <p:cNvPr name="TextBox 7" id="7"/>
          <p:cNvSpPr txBox="true"/>
          <p:nvPr/>
        </p:nvSpPr>
        <p:spPr>
          <a:xfrm rot="0">
            <a:off x="8104050" y="3206741"/>
            <a:ext cx="10183950" cy="6819900"/>
          </a:xfrm>
          <a:prstGeom prst="rect">
            <a:avLst/>
          </a:prstGeom>
        </p:spPr>
        <p:txBody>
          <a:bodyPr anchor="t" rtlCol="false" tIns="0" lIns="0" bIns="0" rIns="0">
            <a:spAutoFit/>
          </a:bodyPr>
          <a:lstStyle/>
          <a:p>
            <a:pPr algn="l">
              <a:lnSpc>
                <a:spcPts val="6719"/>
              </a:lnSpc>
            </a:pPr>
            <a:r>
              <a:rPr lang="en-US" sz="4800" b="true">
                <a:solidFill>
                  <a:srgbClr val="000000"/>
                </a:solidFill>
                <a:latin typeface="Cloud Condensed Bold"/>
                <a:ea typeface="Cloud Condensed Bold"/>
                <a:cs typeface="Cloud Condensed Bold"/>
                <a:sym typeface="Cloud Condensed Bold"/>
              </a:rPr>
              <a:t>💡 Solution:</a:t>
            </a:r>
          </a:p>
          <a:p>
            <a:pPr algn="l">
              <a:lnSpc>
                <a:spcPts val="5880"/>
              </a:lnSpc>
            </a:pPr>
            <a:r>
              <a:rPr lang="en-US" sz="4200">
                <a:solidFill>
                  <a:srgbClr val="000000"/>
                </a:solidFill>
                <a:latin typeface="Cloud Condensed"/>
                <a:ea typeface="Cloud Condensed"/>
                <a:cs typeface="Cloud Condensed"/>
                <a:sym typeface="Cloud Condensed"/>
              </a:rPr>
              <a:t>A w</a:t>
            </a:r>
            <a:r>
              <a:rPr lang="en-US" sz="4200">
                <a:solidFill>
                  <a:srgbClr val="000000"/>
                </a:solidFill>
                <a:latin typeface="Cloud Condensed"/>
                <a:ea typeface="Cloud Condensed"/>
                <a:cs typeface="Cloud Condensed"/>
                <a:sym typeface="Cloud Condensed"/>
              </a:rPr>
              <a:t>eb-based system that collects pollution reports, identifies affected locations, and sends alerts to nearby users, helping authorities monitor and manage pollution incident.</a:t>
            </a:r>
          </a:p>
          <a:p>
            <a:pPr algn="l">
              <a:lnSpc>
                <a:spcPts val="5880"/>
              </a:lnSpc>
              <a:spcBef>
                <a:spcPct val="0"/>
              </a:spcBef>
            </a:pPr>
          </a:p>
          <a:p>
            <a:pPr algn="l">
              <a:lnSpc>
                <a:spcPts val="5880"/>
              </a:lnSpc>
              <a:spcBef>
                <a:spcPct val="0"/>
              </a:spcBef>
            </a:pPr>
          </a:p>
          <a:p>
            <a:pPr algn="l">
              <a:lnSpc>
                <a:spcPts val="5880"/>
              </a:lnSpc>
              <a:spcBef>
                <a:spcPct val="0"/>
              </a:spcBef>
            </a:pPr>
          </a:p>
          <a:p>
            <a:pPr algn="l">
              <a:lnSpc>
                <a:spcPts val="5880"/>
              </a:lnSpc>
              <a:spcBef>
                <a:spcPct val="0"/>
              </a:spcBef>
            </a:pPr>
          </a:p>
        </p:txBody>
      </p:sp>
      <p:sp>
        <p:nvSpPr>
          <p:cNvPr name="TextBox 8" id="8"/>
          <p:cNvSpPr txBox="true"/>
          <p:nvPr/>
        </p:nvSpPr>
        <p:spPr>
          <a:xfrm rot="0">
            <a:off x="14264873" y="9651982"/>
            <a:ext cx="4534101" cy="635018"/>
          </a:xfrm>
          <a:prstGeom prst="rect">
            <a:avLst/>
          </a:prstGeom>
        </p:spPr>
        <p:txBody>
          <a:bodyPr anchor="t" rtlCol="false" tIns="0" lIns="0" bIns="0" rIns="0">
            <a:spAutoFit/>
          </a:bodyPr>
          <a:lstStyle/>
          <a:p>
            <a:pPr algn="ctr">
              <a:lnSpc>
                <a:spcPts val="4858"/>
              </a:lnSpc>
              <a:spcBef>
                <a:spcPct val="0"/>
              </a:spcBef>
            </a:pPr>
            <a:r>
              <a:rPr lang="en-US" sz="3470">
                <a:solidFill>
                  <a:srgbClr val="000000"/>
                </a:solidFill>
                <a:latin typeface="Cloud Condensed"/>
                <a:ea typeface="Cloud Condensed"/>
                <a:cs typeface="Cloud Condensed"/>
                <a:sym typeface="Cloud Condensed"/>
              </a:rPr>
              <a:t>NANDITHA MANOJ</a:t>
            </a:r>
          </a:p>
        </p:txBody>
      </p:sp>
      <p:sp>
        <p:nvSpPr>
          <p:cNvPr name="TextBox 9" id="9"/>
          <p:cNvSpPr txBox="true"/>
          <p:nvPr/>
        </p:nvSpPr>
        <p:spPr>
          <a:xfrm rot="0">
            <a:off x="0" y="292824"/>
            <a:ext cx="6994777" cy="10115556"/>
          </a:xfrm>
          <a:prstGeom prst="rect">
            <a:avLst/>
          </a:prstGeom>
        </p:spPr>
        <p:txBody>
          <a:bodyPr anchor="t" rtlCol="false" tIns="0" lIns="0" bIns="0" rIns="0">
            <a:spAutoFit/>
          </a:bodyPr>
          <a:lstStyle/>
          <a:p>
            <a:pPr algn="ctr">
              <a:lnSpc>
                <a:spcPts val="5661"/>
              </a:lnSpc>
            </a:pPr>
            <a:r>
              <a:rPr lang="en-US" sz="4043">
                <a:solidFill>
                  <a:srgbClr val="FFFFFF"/>
                </a:solidFill>
                <a:latin typeface="Bobby Jones"/>
                <a:ea typeface="Bobby Jones"/>
                <a:cs typeface="Bobby Jones"/>
                <a:sym typeface="Bobby Jones"/>
              </a:rPr>
              <a:t>Main features :</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Users report pollution incidents with location.</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Nearby users receive pollution alerts.</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Alerts show pollution type and s</a:t>
            </a:r>
            <a:r>
              <a:rPr lang="en-US" sz="3543">
                <a:solidFill>
                  <a:srgbClr val="FFFFFF"/>
                </a:solidFill>
                <a:latin typeface="Cloud Condensed"/>
                <a:ea typeface="Cloud Condensed"/>
                <a:cs typeface="Cloud Condensed"/>
                <a:sym typeface="Cloud Condensed"/>
              </a:rPr>
              <a:t>eve</a:t>
            </a:r>
            <a:r>
              <a:rPr lang="en-US" sz="3543">
                <a:solidFill>
                  <a:srgbClr val="FFFFFF"/>
                </a:solidFill>
                <a:latin typeface="Cloud Condensed"/>
                <a:ea typeface="Cloud Condensed"/>
                <a:cs typeface="Cloud Condensed"/>
                <a:sym typeface="Cloud Condensed"/>
              </a:rPr>
              <a:t>rity.</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Users get safety and precaution informat</a:t>
            </a:r>
            <a:r>
              <a:rPr lang="en-US" sz="3543">
                <a:solidFill>
                  <a:srgbClr val="FFFFFF"/>
                </a:solidFill>
                <a:latin typeface="Cloud Condensed"/>
                <a:ea typeface="Cloud Condensed"/>
                <a:cs typeface="Cloud Condensed"/>
                <a:sym typeface="Cloud Condensed"/>
              </a:rPr>
              <a:t>i</a:t>
            </a:r>
            <a:r>
              <a:rPr lang="en-US" sz="3543">
                <a:solidFill>
                  <a:srgbClr val="FFFFFF"/>
                </a:solidFill>
                <a:latin typeface="Cloud Condensed"/>
                <a:ea typeface="Cloud Condensed"/>
                <a:cs typeface="Cloud Condensed"/>
                <a:sym typeface="Cloud Condensed"/>
              </a:rPr>
              <a:t>on.</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Authorities verify and manage incidents.</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P</a:t>
            </a:r>
            <a:r>
              <a:rPr lang="en-US" sz="3543">
                <a:solidFill>
                  <a:srgbClr val="FFFFFF"/>
                </a:solidFill>
                <a:latin typeface="Cloud Condensed"/>
                <a:ea typeface="Cloud Condensed"/>
                <a:cs typeface="Cloud Condensed"/>
                <a:sym typeface="Cloud Condensed"/>
              </a:rPr>
              <a:t>revious incidents are stored for monitoring.</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Fr</a:t>
            </a:r>
            <a:r>
              <a:rPr lang="en-US" sz="3543">
                <a:solidFill>
                  <a:srgbClr val="FFFFFF"/>
                </a:solidFill>
                <a:latin typeface="Cloud Condensed"/>
                <a:ea typeface="Cloud Condensed"/>
                <a:cs typeface="Cloud Condensed"/>
                <a:sym typeface="Cloud Condensed"/>
              </a:rPr>
              <a:t>equently affected areas can be identified.</a:t>
            </a:r>
          </a:p>
          <a:p>
            <a:pPr algn="just">
              <a:lnSpc>
                <a:spcPts val="4961"/>
              </a:lnSpc>
            </a:pPr>
          </a:p>
          <a:p>
            <a:pPr algn="just">
              <a:lnSpc>
                <a:spcPts val="4821"/>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grpSp>
        <p:nvGrpSpPr>
          <p:cNvPr name="Group 2" id="2"/>
          <p:cNvGrpSpPr/>
          <p:nvPr/>
        </p:nvGrpSpPr>
        <p:grpSpPr>
          <a:xfrm rot="0">
            <a:off x="489820" y="161365"/>
            <a:ext cx="17354971" cy="9942941"/>
            <a:chOff x="0" y="0"/>
            <a:chExt cx="968876" cy="555085"/>
          </a:xfrm>
        </p:grpSpPr>
        <p:sp>
          <p:nvSpPr>
            <p:cNvPr name="Freeform 3" id="3"/>
            <p:cNvSpPr/>
            <p:nvPr/>
          </p:nvSpPr>
          <p:spPr>
            <a:xfrm flipH="false" flipV="false" rot="0">
              <a:off x="0" y="0"/>
              <a:ext cx="968876" cy="555085"/>
            </a:xfrm>
            <a:custGeom>
              <a:avLst/>
              <a:gdLst/>
              <a:ahLst/>
              <a:cxnLst/>
              <a:rect r="r" b="b" t="t" l="l"/>
              <a:pathLst>
                <a:path h="555085" w="968876">
                  <a:moveTo>
                    <a:pt x="135923" y="0"/>
                  </a:moveTo>
                  <a:lnTo>
                    <a:pt x="832953" y="0"/>
                  </a:lnTo>
                  <a:cubicBezTo>
                    <a:pt x="869002" y="0"/>
                    <a:pt x="903575" y="14320"/>
                    <a:pt x="929065" y="39811"/>
                  </a:cubicBezTo>
                  <a:cubicBezTo>
                    <a:pt x="954556" y="65302"/>
                    <a:pt x="968876" y="99874"/>
                    <a:pt x="968876" y="135923"/>
                  </a:cubicBezTo>
                  <a:lnTo>
                    <a:pt x="968876" y="419162"/>
                  </a:lnTo>
                  <a:cubicBezTo>
                    <a:pt x="968876" y="455211"/>
                    <a:pt x="954556" y="489783"/>
                    <a:pt x="929065" y="515274"/>
                  </a:cubicBezTo>
                  <a:cubicBezTo>
                    <a:pt x="903575" y="540764"/>
                    <a:pt x="869002" y="555085"/>
                    <a:pt x="832953" y="555085"/>
                  </a:cubicBezTo>
                  <a:lnTo>
                    <a:pt x="135923" y="555085"/>
                  </a:lnTo>
                  <a:cubicBezTo>
                    <a:pt x="99874" y="555085"/>
                    <a:pt x="65302" y="540764"/>
                    <a:pt x="39811" y="515274"/>
                  </a:cubicBezTo>
                  <a:cubicBezTo>
                    <a:pt x="14320" y="489783"/>
                    <a:pt x="0" y="455211"/>
                    <a:pt x="0" y="419162"/>
                  </a:cubicBezTo>
                  <a:lnTo>
                    <a:pt x="0" y="135923"/>
                  </a:lnTo>
                  <a:cubicBezTo>
                    <a:pt x="0" y="99874"/>
                    <a:pt x="14320" y="65302"/>
                    <a:pt x="39811" y="39811"/>
                  </a:cubicBezTo>
                  <a:cubicBezTo>
                    <a:pt x="65302" y="14320"/>
                    <a:pt x="99874" y="0"/>
                    <a:pt x="135923" y="0"/>
                  </a:cubicBezTo>
                  <a:close/>
                </a:path>
              </a:pathLst>
            </a:custGeom>
            <a:solidFill>
              <a:srgbClr val="786948"/>
            </a:solidFill>
          </p:spPr>
        </p:sp>
        <p:sp>
          <p:nvSpPr>
            <p:cNvPr name="TextBox 4" id="4"/>
            <p:cNvSpPr txBox="true"/>
            <p:nvPr/>
          </p:nvSpPr>
          <p:spPr>
            <a:xfrm>
              <a:off x="0" y="-38100"/>
              <a:ext cx="968876" cy="59318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942992" y="161365"/>
            <a:ext cx="12428677" cy="9942941"/>
          </a:xfrm>
          <a:custGeom>
            <a:avLst/>
            <a:gdLst/>
            <a:ahLst/>
            <a:cxnLst/>
            <a:rect r="r" b="b" t="t" l="l"/>
            <a:pathLst>
              <a:path h="9942941" w="12428677">
                <a:moveTo>
                  <a:pt x="0" y="0"/>
                </a:moveTo>
                <a:lnTo>
                  <a:pt x="12428676" y="0"/>
                </a:lnTo>
                <a:lnTo>
                  <a:pt x="12428676" y="9942942"/>
                </a:lnTo>
                <a:lnTo>
                  <a:pt x="0" y="9942942"/>
                </a:lnTo>
                <a:lnTo>
                  <a:pt x="0" y="0"/>
                </a:lnTo>
                <a:close/>
              </a:path>
            </a:pathLst>
          </a:custGeom>
          <a:blipFill>
            <a:blip r:embed="rId2">
              <a:alphaModFix amt="26000"/>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552794" y="672355"/>
            <a:ext cx="11229023" cy="1186803"/>
          </a:xfrm>
          <a:prstGeom prst="rect">
            <a:avLst/>
          </a:prstGeom>
        </p:spPr>
        <p:txBody>
          <a:bodyPr anchor="t" rtlCol="false" tIns="0" lIns="0" bIns="0" rIns="0">
            <a:spAutoFit/>
          </a:bodyPr>
          <a:lstStyle/>
          <a:p>
            <a:pPr algn="ctr">
              <a:lnSpc>
                <a:spcPts val="9660"/>
              </a:lnSpc>
            </a:pPr>
            <a:r>
              <a:rPr lang="en-US" sz="6900">
                <a:solidFill>
                  <a:srgbClr val="FFFFFF"/>
                </a:solidFill>
                <a:latin typeface="Bobby Jones"/>
                <a:ea typeface="Bobby Jones"/>
                <a:cs typeface="Bobby Jones"/>
                <a:sym typeface="Bobby Jones"/>
              </a:rPr>
              <a:t>FINAL SOLUTION &amp; Justification</a:t>
            </a:r>
            <a:r>
              <a:rPr lang="en-US" sz="6900">
                <a:solidFill>
                  <a:srgbClr val="FFFFFF"/>
                </a:solidFill>
                <a:latin typeface="Bobby Jones"/>
                <a:ea typeface="Bobby Jones"/>
                <a:cs typeface="Bobby Jones"/>
                <a:sym typeface="Bobby Jones"/>
              </a:rPr>
              <a:t> </a:t>
            </a:r>
          </a:p>
        </p:txBody>
      </p:sp>
      <p:sp>
        <p:nvSpPr>
          <p:cNvPr name="TextBox 7" id="7"/>
          <p:cNvSpPr txBox="true"/>
          <p:nvPr/>
        </p:nvSpPr>
        <p:spPr>
          <a:xfrm rot="0">
            <a:off x="3324987" y="3906810"/>
            <a:ext cx="12046681" cy="4409596"/>
          </a:xfrm>
          <a:prstGeom prst="rect">
            <a:avLst/>
          </a:prstGeom>
        </p:spPr>
        <p:txBody>
          <a:bodyPr anchor="t" rtlCol="false" tIns="0" lIns="0" bIns="0" rIns="0">
            <a:spAutoFit/>
          </a:bodyPr>
          <a:lstStyle/>
          <a:p>
            <a:pPr algn="ctr">
              <a:lnSpc>
                <a:spcPts val="5793"/>
              </a:lnSpc>
            </a:pPr>
            <a:r>
              <a:rPr lang="en-US" sz="4138">
                <a:solidFill>
                  <a:srgbClr val="FFFFFF"/>
                </a:solidFill>
                <a:latin typeface="Cloud Condensed"/>
                <a:ea typeface="Cloud Condensed"/>
                <a:cs typeface="Cloud Condensed"/>
                <a:sym typeface="Cloud Condensed"/>
              </a:rPr>
              <a:t>We chose geo-tagging because it provides the exact location of pollution incidents, making reports more accurate and easier to verify. It helps authorities identify affected areas and recurring pollution hotspots, prioritize serious cases, and take appropriate action. This makes pollution reporting more accurate, efficient, and location-specific.</a:t>
            </a:r>
          </a:p>
        </p:txBody>
      </p:sp>
      <p:sp>
        <p:nvSpPr>
          <p:cNvPr name="TextBox 8" id="8"/>
          <p:cNvSpPr txBox="true"/>
          <p:nvPr/>
        </p:nvSpPr>
        <p:spPr>
          <a:xfrm rot="0">
            <a:off x="6060670" y="2553428"/>
            <a:ext cx="6213272" cy="687687"/>
          </a:xfrm>
          <a:prstGeom prst="rect">
            <a:avLst/>
          </a:prstGeom>
        </p:spPr>
        <p:txBody>
          <a:bodyPr anchor="t" rtlCol="false" tIns="0" lIns="0" bIns="0" rIns="0">
            <a:spAutoFit/>
          </a:bodyPr>
          <a:lstStyle/>
          <a:p>
            <a:pPr algn="ctr">
              <a:lnSpc>
                <a:spcPts val="5534"/>
              </a:lnSpc>
            </a:pPr>
            <a:r>
              <a:rPr lang="en-US" sz="3953">
                <a:solidFill>
                  <a:srgbClr val="FFFFFF"/>
                </a:solidFill>
                <a:latin typeface="Bobby Jones"/>
                <a:ea typeface="Bobby Jones"/>
                <a:cs typeface="Bobby Jones"/>
                <a:sym typeface="Bobby Jones"/>
              </a:rPr>
              <a:t>Why we choose geo-tagging?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2729222" y="1987628"/>
            <a:ext cx="12829556" cy="6731282"/>
          </a:xfrm>
          <a:custGeom>
            <a:avLst/>
            <a:gdLst/>
            <a:ahLst/>
            <a:cxnLst/>
            <a:rect r="r" b="b" t="t" l="l"/>
            <a:pathLst>
              <a:path h="6731282" w="12829556">
                <a:moveTo>
                  <a:pt x="0" y="0"/>
                </a:moveTo>
                <a:lnTo>
                  <a:pt x="12829556" y="0"/>
                </a:lnTo>
                <a:lnTo>
                  <a:pt x="12829556" y="6731281"/>
                </a:lnTo>
                <a:lnTo>
                  <a:pt x="0" y="6731281"/>
                </a:lnTo>
                <a:lnTo>
                  <a:pt x="0" y="0"/>
                </a:lnTo>
                <a:close/>
              </a:path>
            </a:pathLst>
          </a:custGeom>
          <a:blipFill>
            <a:blip r:embed="rId2"/>
            <a:stretch>
              <a:fillRect l="0" t="0" r="0" b="0"/>
            </a:stretch>
          </a:blipFill>
        </p:spPr>
      </p:sp>
      <p:sp>
        <p:nvSpPr>
          <p:cNvPr name="TextBox 3" id="3"/>
          <p:cNvSpPr txBox="true"/>
          <p:nvPr/>
        </p:nvSpPr>
        <p:spPr>
          <a:xfrm rot="0">
            <a:off x="2347825" y="74930"/>
            <a:ext cx="12829556" cy="953770"/>
          </a:xfrm>
          <a:prstGeom prst="rect">
            <a:avLst/>
          </a:prstGeom>
        </p:spPr>
        <p:txBody>
          <a:bodyPr anchor="t" rtlCol="false" tIns="0" lIns="0" bIns="0" rIns="0">
            <a:spAutoFit/>
          </a:bodyPr>
          <a:lstStyle/>
          <a:p>
            <a:pPr algn="ctr">
              <a:lnSpc>
                <a:spcPts val="7279"/>
              </a:lnSpc>
            </a:pPr>
            <a:r>
              <a:rPr lang="en-US" sz="5199" b="true">
                <a:solidFill>
                  <a:srgbClr val="000000"/>
                </a:solidFill>
                <a:latin typeface="Cloud Condensed Bold"/>
                <a:ea typeface="Cloud Condensed Bold"/>
                <a:cs typeface="Cloud Condensed Bold"/>
                <a:sym typeface="Cloud Condensed Bold"/>
              </a:rPr>
              <a:t>WEBSITE SCREENSHOTS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2728358" y="1539157"/>
            <a:ext cx="12831284" cy="7208686"/>
          </a:xfrm>
          <a:custGeom>
            <a:avLst/>
            <a:gdLst/>
            <a:ahLst/>
            <a:cxnLst/>
            <a:rect r="r" b="b" t="t" l="l"/>
            <a:pathLst>
              <a:path h="7208686" w="12831284">
                <a:moveTo>
                  <a:pt x="0" y="0"/>
                </a:moveTo>
                <a:lnTo>
                  <a:pt x="12831284" y="0"/>
                </a:lnTo>
                <a:lnTo>
                  <a:pt x="12831284" y="7208686"/>
                </a:lnTo>
                <a:lnTo>
                  <a:pt x="0" y="7208686"/>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3642230" y="3459601"/>
            <a:ext cx="11003541" cy="3367797"/>
          </a:xfrm>
          <a:custGeom>
            <a:avLst/>
            <a:gdLst/>
            <a:ahLst/>
            <a:cxnLst/>
            <a:rect r="r" b="b" t="t" l="l"/>
            <a:pathLst>
              <a:path h="3367797" w="11003541">
                <a:moveTo>
                  <a:pt x="0" y="0"/>
                </a:moveTo>
                <a:lnTo>
                  <a:pt x="11003540" y="0"/>
                </a:lnTo>
                <a:lnTo>
                  <a:pt x="11003540" y="3367798"/>
                </a:lnTo>
                <a:lnTo>
                  <a:pt x="0" y="3367798"/>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2289751" y="476833"/>
            <a:ext cx="12831284" cy="3421676"/>
          </a:xfrm>
          <a:custGeom>
            <a:avLst/>
            <a:gdLst/>
            <a:ahLst/>
            <a:cxnLst/>
            <a:rect r="r" b="b" t="t" l="l"/>
            <a:pathLst>
              <a:path h="3421676" w="12831284">
                <a:moveTo>
                  <a:pt x="0" y="0"/>
                </a:moveTo>
                <a:lnTo>
                  <a:pt x="12831284" y="0"/>
                </a:lnTo>
                <a:lnTo>
                  <a:pt x="12831284" y="3421676"/>
                </a:lnTo>
                <a:lnTo>
                  <a:pt x="0" y="3421676"/>
                </a:lnTo>
                <a:lnTo>
                  <a:pt x="0" y="0"/>
                </a:lnTo>
                <a:close/>
              </a:path>
            </a:pathLst>
          </a:custGeom>
          <a:blipFill>
            <a:blip r:embed="rId2"/>
            <a:stretch>
              <a:fillRect l="0" t="0" r="0" b="0"/>
            </a:stretch>
          </a:blipFill>
        </p:spPr>
      </p:sp>
      <p:sp>
        <p:nvSpPr>
          <p:cNvPr name="Freeform 3" id="3"/>
          <p:cNvSpPr/>
          <p:nvPr/>
        </p:nvSpPr>
        <p:spPr>
          <a:xfrm flipH="false" flipV="false" rot="0">
            <a:off x="2728358" y="4724447"/>
            <a:ext cx="12831284" cy="4232541"/>
          </a:xfrm>
          <a:custGeom>
            <a:avLst/>
            <a:gdLst/>
            <a:ahLst/>
            <a:cxnLst/>
            <a:rect r="r" b="b" t="t" l="l"/>
            <a:pathLst>
              <a:path h="4232541" w="12831284">
                <a:moveTo>
                  <a:pt x="0" y="0"/>
                </a:moveTo>
                <a:lnTo>
                  <a:pt x="12831284" y="0"/>
                </a:lnTo>
                <a:lnTo>
                  <a:pt x="12831284" y="4232542"/>
                </a:lnTo>
                <a:lnTo>
                  <a:pt x="0" y="4232542"/>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2728358" y="3187620"/>
            <a:ext cx="12831284" cy="3911759"/>
          </a:xfrm>
          <a:custGeom>
            <a:avLst/>
            <a:gdLst/>
            <a:ahLst/>
            <a:cxnLst/>
            <a:rect r="r" b="b" t="t" l="l"/>
            <a:pathLst>
              <a:path h="3911759" w="12831284">
                <a:moveTo>
                  <a:pt x="0" y="0"/>
                </a:moveTo>
                <a:lnTo>
                  <a:pt x="12831284" y="0"/>
                </a:lnTo>
                <a:lnTo>
                  <a:pt x="12831284" y="3911760"/>
                </a:lnTo>
                <a:lnTo>
                  <a:pt x="0" y="3911760"/>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3150140" y="544264"/>
            <a:ext cx="11987721" cy="9590177"/>
          </a:xfrm>
          <a:custGeom>
            <a:avLst/>
            <a:gdLst/>
            <a:ahLst/>
            <a:cxnLst/>
            <a:rect r="r" b="b" t="t" l="l"/>
            <a:pathLst>
              <a:path h="9590177" w="11987721">
                <a:moveTo>
                  <a:pt x="0" y="0"/>
                </a:moveTo>
                <a:lnTo>
                  <a:pt x="11987720" y="0"/>
                </a:lnTo>
                <a:lnTo>
                  <a:pt x="11987720" y="9590177"/>
                </a:lnTo>
                <a:lnTo>
                  <a:pt x="0" y="9590177"/>
                </a:lnTo>
                <a:lnTo>
                  <a:pt x="0"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765414" y="3129171"/>
            <a:ext cx="10137918" cy="3476208"/>
          </a:xfrm>
          <a:prstGeom prst="rect">
            <a:avLst/>
          </a:prstGeom>
        </p:spPr>
        <p:txBody>
          <a:bodyPr anchor="t" rtlCol="false" tIns="0" lIns="0" bIns="0" rIns="0">
            <a:spAutoFit/>
          </a:bodyPr>
          <a:lstStyle/>
          <a:p>
            <a:pPr algn="ctr">
              <a:lnSpc>
                <a:spcPts val="26890"/>
              </a:lnSpc>
            </a:pPr>
            <a:r>
              <a:rPr lang="en-US" sz="19207" b="true">
                <a:solidFill>
                  <a:srgbClr val="000000"/>
                </a:solidFill>
                <a:latin typeface="Cloud Condensed Bold"/>
                <a:ea typeface="Cloud Condensed Bold"/>
                <a:cs typeface="Cloud Condensed Bold"/>
                <a:sym typeface="Cloud Condensed Bold"/>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DAHVqvBMHKM</dc:identifier>
  <dcterms:modified xsi:type="dcterms:W3CDTF">2011-08-01T06:04:30Z</dcterms:modified>
  <cp:revision>1</cp:revision>
  <dc:title>Esse presentation </dc:title>
</cp:coreProperties>
</file>